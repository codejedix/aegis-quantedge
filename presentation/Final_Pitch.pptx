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073b638f1742df" /><Relationship Type="http://schemas.openxmlformats.org/officeDocument/2006/relationships/extended-properties" Target="/docProps/app.xml" Id="R36fe530b8c194bb0" /><Relationship Type="http://schemas.openxmlformats.org/officeDocument/2006/relationships/officeDocument" Target="/ppt/presentation.xml" Id="R39d6f10940f445b2" /></Relationships>
</file>

<file path=ppt/presentation.xml><?xml version="1.0" encoding="utf-8"?>
<p:presentation xmlns:p="http://schemas.openxmlformats.org/presentationml/2006/main">
  <p:sldMasterIdLst>
    <p:sldMasterId xmlns:r="http://schemas.openxmlformats.org/officeDocument/2006/relationships" id="2147483648" r:id="Rc9e2a0e17a9e4ddd"/>
  </p:sldMasterIdLst>
  <p:notesMasterIdLst>
    <p:notesMasterId xmlns:r="http://schemas.openxmlformats.org/officeDocument/2006/relationships" r:id="R794650111e0a4def"/>
  </p:notesMasterIdLst>
  <p:sldIdLst>
    <p:sldId xmlns:r="http://schemas.openxmlformats.org/officeDocument/2006/relationships" id="256" r:id="R3d985ea7f57a472b"/>
    <p:sldId xmlns:r="http://schemas.openxmlformats.org/officeDocument/2006/relationships" id="257" r:id="R87f7946a4e87483f"/>
    <p:sldId xmlns:r="http://schemas.openxmlformats.org/officeDocument/2006/relationships" id="258" r:id="Rf11f541e49ab46e3"/>
    <p:sldId xmlns:r="http://schemas.openxmlformats.org/officeDocument/2006/relationships" id="259" r:id="Rf5a0a60956d8416d"/>
    <p:sldId xmlns:r="http://schemas.openxmlformats.org/officeDocument/2006/relationships" id="260" r:id="Rc4654b9e98694f64"/>
    <p:sldId xmlns:r="http://schemas.openxmlformats.org/officeDocument/2006/relationships" id="261" r:id="R468dceba4463495f"/>
    <p:sldId xmlns:r="http://schemas.openxmlformats.org/officeDocument/2006/relationships" id="262" r:id="R6bc0015d4ae045e4"/>
    <p:sldId xmlns:r="http://schemas.openxmlformats.org/officeDocument/2006/relationships" id="263" r:id="R3f4515fb5f0a4128"/>
    <p:sldId xmlns:r="http://schemas.openxmlformats.org/officeDocument/2006/relationships" id="264" r:id="R69c237d0e5534cce"/>
    <p:sldId xmlns:r="http://schemas.openxmlformats.org/officeDocument/2006/relationships" id="265" r:id="Reb9574003e684ecf"/>
    <p:sldId xmlns:r="http://schemas.openxmlformats.org/officeDocument/2006/relationships" id="266" r:id="Rc18799b36c7e49c9"/>
    <p:sldId xmlns:r="http://schemas.openxmlformats.org/officeDocument/2006/relationships" id="267" r:id="R14b3b580508a41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baae9da2034597" /><Relationship Type="http://schemas.openxmlformats.org/officeDocument/2006/relationships/slideMaster" Target="/ppt/slideMasters/slideMaster1.xml" Id="Rc9e2a0e17a9e4ddd" /><Relationship Type="http://schemas.openxmlformats.org/officeDocument/2006/relationships/notesMaster" Target="/ppt/notesMasters/notesMaster1.xml" Id="R794650111e0a4def" /><Relationship Type="http://schemas.openxmlformats.org/officeDocument/2006/relationships/presProps" Target="/ppt/presProps.xml" Id="R57dbf552d9d649eb" /><Relationship Type="http://schemas.openxmlformats.org/officeDocument/2006/relationships/tableStyles" Target="/ppt/tableStyles.xml" Id="R8ba1791332e64ddf" /><Relationship Type="http://schemas.openxmlformats.org/officeDocument/2006/relationships/slide" Target="/ppt/slides/slide1.xml" Id="R3d985ea7f57a472b" /><Relationship Type="http://schemas.openxmlformats.org/officeDocument/2006/relationships/slide" Target="/ppt/slides/slide2.xml" Id="R87f7946a4e87483f" /><Relationship Type="http://schemas.openxmlformats.org/officeDocument/2006/relationships/slide" Target="/ppt/slides/slide3.xml" Id="Rf11f541e49ab46e3" /><Relationship Type="http://schemas.openxmlformats.org/officeDocument/2006/relationships/slide" Target="/ppt/slides/slide4.xml" Id="Rf5a0a60956d8416d" /><Relationship Type="http://schemas.openxmlformats.org/officeDocument/2006/relationships/slide" Target="/ppt/slides/slide5.xml" Id="Rc4654b9e98694f64" /><Relationship Type="http://schemas.openxmlformats.org/officeDocument/2006/relationships/slide" Target="/ppt/slides/slide6.xml" Id="R468dceba4463495f" /><Relationship Type="http://schemas.openxmlformats.org/officeDocument/2006/relationships/slide" Target="/ppt/slides/slide7.xml" Id="R6bc0015d4ae045e4" /><Relationship Type="http://schemas.openxmlformats.org/officeDocument/2006/relationships/slide" Target="/ppt/slides/slide8.xml" Id="R3f4515fb5f0a4128" /><Relationship Type="http://schemas.openxmlformats.org/officeDocument/2006/relationships/slide" Target="/ppt/slides/slide9.xml" Id="R69c237d0e5534cce" /><Relationship Type="http://schemas.openxmlformats.org/officeDocument/2006/relationships/slide" Target="/ppt/slides/slide10.xml" Id="Reb9574003e684ecf" /><Relationship Type="http://schemas.openxmlformats.org/officeDocument/2006/relationships/slide" Target="/ppt/slides/slide11.xml" Id="Rc18799b36c7e49c9" /><Relationship Type="http://schemas.openxmlformats.org/officeDocument/2006/relationships/slide" Target="/ppt/slides/slide12.xml" Id="R14b3b580508a41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981429f49147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0f289574954854" /><Relationship Type="http://schemas.openxmlformats.org/officeDocument/2006/relationships/notesMaster" Target="/ppt/notesMasters/notesMaster1.xml" Id="R1657817affb241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471105e0f346ba" /><Relationship Type="http://schemas.openxmlformats.org/officeDocument/2006/relationships/notesMaster" Target="/ppt/notesMasters/notesMaster1.xml" Id="Rc802b6d2d40e43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dd9cb2c354fe8" /><Relationship Type="http://schemas.openxmlformats.org/officeDocument/2006/relationships/notesMaster" Target="/ppt/notesMasters/notesMaster1.xml" Id="R62ba810b0e134c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4ad7864bb84351" /><Relationship Type="http://schemas.openxmlformats.org/officeDocument/2006/relationships/notesMaster" Target="/ppt/notesMasters/notesMaster1.xml" Id="R048b4704cc4045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13753a469e477a" /><Relationship Type="http://schemas.openxmlformats.org/officeDocument/2006/relationships/notesMaster" Target="/ppt/notesMasters/notesMaster1.xml" Id="R149ed6a4ae6c49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8ece6415d84188" /><Relationship Type="http://schemas.openxmlformats.org/officeDocument/2006/relationships/notesMaster" Target="/ppt/notesMasters/notesMaster1.xml" Id="R12a6dfc52f614f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05301fd89b4f38" /><Relationship Type="http://schemas.openxmlformats.org/officeDocument/2006/relationships/notesMaster" Target="/ppt/notesMasters/notesMaster1.xml" Id="R01453f726ae546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3ac210869b43af" /><Relationship Type="http://schemas.openxmlformats.org/officeDocument/2006/relationships/notesMaster" Target="/ppt/notesMasters/notesMaster1.xml" Id="Rc5877ba1da934a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8ab153f08442fb" /><Relationship Type="http://schemas.openxmlformats.org/officeDocument/2006/relationships/notesMaster" Target="/ppt/notesMasters/notesMaster1.xml" Id="Ree0d95568b0648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3e0eef2a1e4641" /><Relationship Type="http://schemas.openxmlformats.org/officeDocument/2006/relationships/notesMaster" Target="/ppt/notesMasters/notesMaster1.xml" Id="R03e3c1b31f734c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a9d37e2a414d1c" /><Relationship Type="http://schemas.openxmlformats.org/officeDocument/2006/relationships/notesMaster" Target="/ppt/notesMasters/notesMaster1.xml" Id="Rd4f7f333c8be4a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3c1f35247c40d0" /><Relationship Type="http://schemas.openxmlformats.org/officeDocument/2006/relationships/notesMaster" Target="/ppt/notesMasters/notesMaster1.xml" Id="R62f349c595f64f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35 seconds.</a:t>
            </a:r>
          </a:p>
          <a:p xmlns:a="http://schemas.openxmlformats.org/drawingml/2006/main">
            <a:r>
              <a:t>Introduce the mandate and identify this as an AI-assisted proposal pending independent team review. The objective is a defensible loss budget, not the highest backtested return.</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50 seconds.</a:t>
            </a:r>
          </a:p>
          <a:p xmlns:a="http://schemas.openxmlformats.org/drawingml/2006/main">
            <a:r>
              <a:t>The final brief asks for a decision. Explain that low daily volatility alone does not justify accepting the mandate. A 15% proposed drawdown limit conflicts with the replay evidence.</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55 seconds.</a:t>
            </a:r>
          </a:p>
          <a:p xmlns:a="http://schemas.openxmlformats.org/drawingml/2006/main">
            <a:r>
              <a:t>The 4% objective assumes 2.5% inflation, about 1.46% real growth before spending. No client payout rate was supplied. Constraints are our proposed assumptions for human review, not confirmed instructions.</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55 seconds.</a:t>
            </a:r>
          </a:p>
          <a:p xmlns:a="http://schemas.openxmlformats.org/drawingml/2006/main">
            <a:r>
              <a:t>Sources: approved Yahoo through yfinance and FRED DTB3. No missing returned aligned cells. Flags are retained. Rates are strictly lagged but current vintage. This is a retrospective chronological experiment, not a preregistered live record. See documentation/Sources.md.</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60 seconds.</a:t>
            </a:r>
          </a:p>
          <a:p xmlns:a="http://schemas.openxmlformats.org/drawingml/2006/main">
            <a:r>
              <a:t>Explain sample covariance with 10% diagonal shrinkage, the constraints, and why zero international/energy weights are allowed. Geographic diversification was not forced. These weights need team review.</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60 seconds.</a:t>
            </a:r>
          </a:p>
          <a:p xmlns:a="http://schemas.openxmlformats.org/drawingml/2006/main">
            <a:r>
              <a:t>Compare all alternatives without choosing the best test outcome. Costs are 10bp per dollar of absolute daily turnover. Benchmark uses the same net accounting. Income adequacy remains untested.</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60 seconds.</a:t>
            </a:r>
          </a:p>
          <a:p xmlns:a="http://schemas.openxmlformats.org/drawingml/2006/main">
            <a:r>
              <a:t>Historical quantiles retain observed extremes. Parametric normal portfolio log returns and Monte Carlo normal asset log returns aggregate differently; both omit heavy tails. Dollar amounts use constant $10m NAV.</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60 seconds.</a:t>
            </a:r>
          </a:p>
          <a:p xmlns:a="http://schemas.openxmlformats.org/drawingml/2006/main">
            <a:r>
              <a:t>Threshold was fixed before the test to provide around 76 exceedances in 756 observations. Explain the GPD excess model, minimum 40 count, ES unavailable for shape at least one, and why a negative point estimate is not a safe loss bound. Source: McNeil/Frey context and SciPy, documentation/Sources.md.</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60 seconds.</a:t>
            </a:r>
          </a:p>
          <a:p xmlns:a="http://schemas.openxmlformats.org/drawingml/2006/main">
            <a:r>
              <a:t>Kupiec tests frequency and Christoffersen tests first-order clustering. Non-rejection is not proof. Last 250 is explicitly separate from the full test. Sources: Kupiec 1995, Christoffersen 1998 and BIS 1996, documentation/Sources.md.</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60 seconds.</a:t>
            </a:r>
          </a:p>
          <a:p xmlns:a="http://schemas.openxmlformats.org/drawingml/2006/main">
            <a:r>
              <a:t>Replay actual returns through 2008, COVID and 2022. Contrast terminal return with peak drawdown. The simultaneous funding squeeze is explicitly assumed, with no probability or invented recovery.</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55 seconds.</a:t>
            </a:r>
          </a:p>
          <a:p xmlns:a="http://schemas.openxmlformats.org/drawingml/2006/main">
            <a:r>
              <a:t>Negative FZ0 difference would favour the extension. Its confidence interval crosses zero and its exception clustering is rejected. Demonstrate the evidence ledger, threshold lab, crisis controls and separate policy checks. The deterministic assistant uses no external LLM.</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timing: 50 seconds.</a:t>
            </a:r>
          </a:p>
          <a:p xmlns:a="http://schemas.openxmlformats.org/drawingml/2006/main">
            <a:r>
              <a:t>Conclude with ADJUST. If 15% remains binding, require substantiated reallocation or reject this candidate. Limits can be exceeded in the future. No approval, GitHub publication or deployment is fabricated. The team must own and defend the final judgment under brief section 8.7.</a:t>
            </a:r>
          </a:p>
          <a:p xmlns:a="http://schemas.openxmlformats.org/drawingml/2006/main">
            <a:r>
              <a:t>Evidence: outputs/results/summary.json and outputs/tables; assumptions and method sources: documentation/Sources.md. OpenAI Codex assisted; independent human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121ea04f124c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c30299343843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166c1a1a064f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4c3be30bdf42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710353279248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b6460b4aec44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DB44B6-E4FF-4AC4-AEA2-664F71DC32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D26C43-3AC8-48B4-B528-F7FACBF298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35C4DF-2362-43CC-B07D-933A069E22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677071-0830-4D3A-9F39-307F525847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081ACA-C10B-4ADC-9025-CCED650F70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BCF5ED3-3337-4711-9FCF-5DE3EAF2F3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24E47E-2E31-41B2-AB77-DEE0E8CB77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80D67A-4165-427E-AFD7-AE1155628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D6D08C-4474-4E7E-AB67-85A81D14BA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A4DD3C-8297-4149-8522-772E73C1A6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5d152826fc4790" /><Relationship Type="http://schemas.openxmlformats.org/officeDocument/2006/relationships/slideLayout" Target="/ppt/slideLayouts/slideLayout1.xml" Id="R145042a11dd247e4" /><Relationship Type="http://schemas.openxmlformats.org/officeDocument/2006/relationships/slideLayout" Target="/ppt/slideLayouts/slideLayout2.xml" Id="Rb85c59097e274b5d" /><Relationship Type="http://schemas.openxmlformats.org/officeDocument/2006/relationships/slideLayout" Target="/ppt/slideLayouts/slideLayout3.xml" Id="R9438c209fb374751" /><Relationship Type="http://schemas.openxmlformats.org/officeDocument/2006/relationships/slideLayout" Target="/ppt/slideLayouts/slideLayout4.xml" Id="Rb229b08c15444464" /><Relationship Type="http://schemas.openxmlformats.org/officeDocument/2006/relationships/slideLayout" Target="/ppt/slideLayouts/slideLayout5.xml" Id="R37af11d16aaf4eca" /><Relationship Type="http://schemas.openxmlformats.org/officeDocument/2006/relationships/slideLayout" Target="/ppt/slideLayouts/slideLayout6.xml" Id="Ra8a41155169c4f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5042a11dd247e4"/>
    <p:sldLayoutId xmlns:r="http://schemas.openxmlformats.org/officeDocument/2006/relationships" id="2147483650" r:id="Rb85c59097e274b5d"/>
    <p:sldLayoutId xmlns:r="http://schemas.openxmlformats.org/officeDocument/2006/relationships" id="2147483651" r:id="R9438c209fb374751"/>
    <p:sldLayoutId xmlns:r="http://schemas.openxmlformats.org/officeDocument/2006/relationships" id="2147483652" r:id="Rb229b08c15444464"/>
    <p:sldLayoutId xmlns:r="http://schemas.openxmlformats.org/officeDocument/2006/relationships" id="2147483653" r:id="R37af11d16aaf4eca"/>
    <p:sldLayoutId xmlns:r="http://schemas.openxmlformats.org/officeDocument/2006/relationships" id="2147483654" r:id="Ra8a41155169c4f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811d2776984fe3" /><Relationship Type="http://schemas.openxmlformats.org/officeDocument/2006/relationships/notesSlide" Target="/ppt/notesSlides/notesSlide1.xml" Id="Rdf866054c5a14e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4eb9edbfdd43ae" /><Relationship Type="http://schemas.openxmlformats.org/officeDocument/2006/relationships/notesSlide" Target="/ppt/notesSlides/notesSlide2.xml" Id="R7d7c9288812046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f67ea0534443ae" /><Relationship Type="http://schemas.openxmlformats.org/officeDocument/2006/relationships/notesSlide" Target="/ppt/notesSlides/notesSlide3.xml" Id="R593a38b2321a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aa98deeb6442b0" /><Relationship Type="http://schemas.openxmlformats.org/officeDocument/2006/relationships/notesSlide" Target="/ppt/notesSlides/notesSlide4.xml" Id="Raf4a0747cdf342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b17a13c7ad4eb8" /><Relationship Type="http://schemas.openxmlformats.org/officeDocument/2006/relationships/chart" Target="/ppt/slides/charts/chart1.xml" Id="R65e3ddc64b8c4138" /><Relationship Type="http://schemas.openxmlformats.org/officeDocument/2006/relationships/notesSlide" Target="/ppt/notesSlides/notesSlide5.xml" Id="R92428b3fd4314a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c732648f95d47e6" /><Relationship Type="http://schemas.openxmlformats.org/officeDocument/2006/relationships/notesSlide" Target="/ppt/notesSlides/notesSlide6.xml" Id="R1aafd8def7d444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cbd476562b14ffd" /><Relationship Type="http://schemas.openxmlformats.org/officeDocument/2006/relationships/chart" Target="/ppt/slides/charts/chart2.xml" Id="Rc2c2c80223f04063" /><Relationship Type="http://schemas.openxmlformats.org/officeDocument/2006/relationships/notesSlide" Target="/ppt/notesSlides/notesSlide7.xml" Id="Rea64ee67e0394c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9760d5488e4af9" /><Relationship Type="http://schemas.openxmlformats.org/officeDocument/2006/relationships/notesSlide" Target="/ppt/notesSlides/notesSlide8.xml" Id="R91cc0e436dfc45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4eadc67c40434c" /><Relationship Type="http://schemas.openxmlformats.org/officeDocument/2006/relationships/notesSlide" Target="/ppt/notesSlides/notesSlide9.xml" Id="Rd8856e137b9c42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df3aa2cc77430e" /><Relationship Type="http://schemas.openxmlformats.org/officeDocument/2006/relationships/chart" Target="/ppt/slides/charts/chart3.xml" Id="Ra14205dcc05d4595" /><Relationship Type="http://schemas.openxmlformats.org/officeDocument/2006/relationships/notesSlide" Target="/ppt/notesSlides/notesSlide10.xml" Id="R66d5094a3a7a41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15efc526854035" /><Relationship Type="http://schemas.openxmlformats.org/officeDocument/2006/relationships/notesSlide" Target="/ppt/notesSlides/notesSlide11.xml" Id="R0aa37748326a4a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961112f4174752" /><Relationship Type="http://schemas.openxmlformats.org/officeDocument/2006/relationships/notesSlide" Target="/ppt/notesSlides/notesSlide12.xml" Id="Rf53da01d92784b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Weight (%)</c:v>
          </c:tx>
          <c:spPr>
            <a:solidFill xmlns:a="http://schemas.openxmlformats.org/drawingml/2006/main">
              <a:srgbClr val="55CCB0"/>
            </a:solidFill>
          </c:spPr>
          <c:invertIfNegative val="0"/>
          <c:cat>
            <c:strRef>
              <c:f>'Chart Data'!$A$2:$A$8</c:f>
              <c:strCache>
                <c:ptCount val="7"/>
                <c:pt idx="0">
                  <c:v>SPY</c:v>
                </c:pt>
                <c:pt idx="1">
                  <c:v>EFA</c:v>
                </c:pt>
                <c:pt idx="2">
                  <c:v>EEM</c:v>
                </c:pt>
                <c:pt idx="3">
                  <c:v>AGG</c:v>
                </c:pt>
                <c:pt idx="4">
                  <c:v>GLD</c:v>
                </c:pt>
                <c:pt idx="5">
                  <c:v>XLE</c:v>
                </c:pt>
                <c:pt idx="6">
                  <c:v>XLK</c:v>
                </c:pt>
              </c:strCache>
            </c:strRef>
          </c:cat>
          <c:val>
            <c:numRef>
              <c:f>'Chart Data'!$B$2:$B$8</c:f>
              <c:numCache>
                <c:formatCode>0.0</c:formatCode>
                <c:ptCount val="7"/>
                <c:pt idx="0">
                  <c:v>11.733005</c:v>
                </c:pt>
                <c:pt idx="1">
                  <c:v>0</c:v>
                </c:pt>
                <c:pt idx="2">
                  <c:v>0</c:v>
                </c:pt>
                <c:pt idx="3">
                  <c:v>70</c:v>
                </c:pt>
                <c:pt idx="4">
                  <c:v>10</c:v>
                </c:pt>
                <c:pt idx="5">
                  <c:v>0</c:v>
                </c:pt>
                <c:pt idx="6">
                  <c:v>8.266995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crossAx val="48672768"/>
      </c:catAx>
      <c:valAx>
        <c:axId val="48672768"/>
        <c:scaling>
          <c:orientation val="minMax"/>
        </c:scaling>
        <c:delete val="0"/>
        <c:axPos val="l"/>
        <c:majorGridlines>
          <c:spPr>
            <a:ln xmlns:a="http://schemas.openxmlformats.org/drawingml/2006/main" w="9525">
              <a:solidFill>
                <a:srgbClr val="29404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crossAx val="48650112"/>
        <c:crossBetween val="between"/>
      </c:valAx>
      <c:spPr>
        <a:solidFill xmlns:a="http://schemas.openxmlformats.org/drawingml/2006/main">
          <a:srgbClr val="0C1822"/>
        </a:solidFill>
        <a:ln xmlns:a="http://schemas.openxmlformats.org/drawingml/2006/main" w="0">
          <a:noFill/>
        </a:ln>
      </c:spPr>
    </c:plotArea>
    <c:plotVisOnly val="1"/>
  </c:chart>
  <c:spPr>
    <a:solidFill xmlns:a="http://schemas.openxmlformats.org/drawingml/2006/main">
      <a:srgbClr val="0C1822"/>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VaR99 (% NAV)</c:v>
          </c:tx>
          <c:spPr>
            <a:solidFill xmlns:a="http://schemas.openxmlformats.org/drawingml/2006/main">
              <a:srgbClr val="55CCB0"/>
            </a:solidFill>
          </c:spPr>
          <c:invertIfNegative val="0"/>
          <c:cat>
            <c:strRef>
              <c:f>'Chart Data'!$A$2:$A$5</c:f>
              <c:strCache>
                <c:ptCount val="4"/>
                <c:pt idx="0">
                  <c:v>Historical</c:v>
                </c:pt>
                <c:pt idx="1">
                  <c:v>Parametric</c:v>
                </c:pt>
                <c:pt idx="2">
                  <c:v>Monte Carlo</c:v>
                </c:pt>
                <c:pt idx="3">
                  <c:v>EVT</c:v>
                </c:pt>
              </c:strCache>
            </c:strRef>
          </c:cat>
          <c:val>
            <c:numRef>
              <c:f>'Chart Data'!$B$2:$B$5</c:f>
              <c:numCache>
                <c:formatCode>0.0</c:formatCode>
                <c:ptCount val="4"/>
                <c:pt idx="0">
                  <c:v>1.114773</c:v>
                </c:pt>
                <c:pt idx="1">
                  <c:v>0.919141</c:v>
                </c:pt>
                <c:pt idx="2">
                  <c:v>0.904464</c:v>
                </c:pt>
                <c:pt idx="3">
                  <c:v>1.081095</c:v>
                </c:pt>
              </c:numCache>
            </c:numRef>
          </c:val>
        </c:ser>
        <c:ser>
          <c:idx val="1"/>
          <c:order val="1"/>
          <c:tx>
            <c:v>ES99 (% NAV)</c:v>
          </c:tx>
          <c:spPr>
            <a:solidFill xmlns:a="http://schemas.openxmlformats.org/drawingml/2006/main">
              <a:srgbClr val="D8B76E"/>
            </a:solidFill>
          </c:spPr>
          <c:invertIfNegative val="0"/>
          <c:cat>
            <c:strRef>
              <c:f>'Chart Data'!$C$2:$C$5</c:f>
              <c:strCache>
                <c:ptCount val="4"/>
                <c:pt idx="0">
                  <c:v>Historical</c:v>
                </c:pt>
                <c:pt idx="1">
                  <c:v>Parametric</c:v>
                </c:pt>
                <c:pt idx="2">
                  <c:v>Monte Carlo</c:v>
                </c:pt>
                <c:pt idx="3">
                  <c:v>EVT</c:v>
                </c:pt>
              </c:strCache>
            </c:strRef>
          </c:cat>
          <c:val>
            <c:numRef>
              <c:f>'Chart Data'!$D$2:$D$5</c:f>
              <c:numCache>
                <c:formatCode>0.0</c:formatCode>
                <c:ptCount val="4"/>
                <c:pt idx="0">
                  <c:v>1.310111</c:v>
                </c:pt>
                <c:pt idx="1">
                  <c:v>1.058285</c:v>
                </c:pt>
                <c:pt idx="2">
                  <c:v>1.044497</c:v>
                </c:pt>
                <c:pt idx="3">
                  <c:v>1.270982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crossAx val="48672768"/>
      </c:catAx>
      <c:valAx>
        <c:axId val="48672768"/>
        <c:scaling>
          <c:orientation val="minMax"/>
        </c:scaling>
        <c:delete val="0"/>
        <c:axPos val="l"/>
        <c:majorGridlines>
          <c:spPr>
            <a:ln xmlns:a="http://schemas.openxmlformats.org/drawingml/2006/main" w="9525">
              <a:solidFill>
                <a:srgbClr val="29404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crossAx val="48650112"/>
        <c:crossBetween val="between"/>
      </c:valAx>
      <c:spPr>
        <a:solidFill xmlns:a="http://schemas.openxmlformats.org/drawingml/2006/main">
          <a:srgbClr val="0C1822"/>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E8EFF2"/>
              </a:solidFill>
              <a:latin typeface="Aptos"/>
              <a:ea typeface="Aptos"/>
              <a:cs typeface="Aptos"/>
            </a:defRPr>
          </a:pPr>
        </a:p>
      </c:txPr>
    </c:legend>
    <c:plotVisOnly val="1"/>
  </c:chart>
  <c:spPr>
    <a:solidFill xmlns:a="http://schemas.openxmlformats.org/drawingml/2006/main">
      <a:srgbClr val="0C1822"/>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Terminal loss (%)</c:v>
          </c:tx>
          <c:spPr>
            <a:solidFill xmlns:a="http://schemas.openxmlformats.org/drawingml/2006/main">
              <a:srgbClr val="55CCB0"/>
            </a:solidFill>
          </c:spPr>
          <c:invertIfNegative val="0"/>
          <c:cat>
            <c:strRef>
              <c:f>'Chart Data'!$A$2:$A$5</c:f>
              <c:strCache>
                <c:ptCount val="4"/>
                <c:pt idx="0">
                  <c:v>2008 GFC</c:v>
                </c:pt>
                <c:pt idx="1">
                  <c:v>2020 COVID</c:v>
                </c:pt>
                <c:pt idx="2">
                  <c:v>2022 rates</c:v>
                </c:pt>
                <c:pt idx="3">
                  <c:v>Hypothetical funding squeeze</c:v>
                </c:pt>
              </c:strCache>
            </c:strRef>
          </c:cat>
          <c:val>
            <c:numRef>
              <c:f>'Chart Data'!$B$2:$B$5</c:f>
              <c:numCache>
                <c:formatCode>0.0</c:formatCode>
                <c:ptCount val="4"/>
                <c:pt idx="0">
                  <c:v>3.738875</c:v>
                </c:pt>
                <c:pt idx="1">
                  <c:v>3.658757</c:v>
                </c:pt>
                <c:pt idx="2">
                  <c:v>13.258437</c:v>
                </c:pt>
                <c:pt idx="3">
                  <c:v>15.226699</c:v>
                </c:pt>
              </c:numCache>
            </c:numRef>
          </c:val>
        </c:ser>
        <c:ser>
          <c:idx val="1"/>
          <c:order val="1"/>
          <c:tx>
            <c:v>Peak drawdown (%)</c:v>
          </c:tx>
          <c:spPr>
            <a:solidFill xmlns:a="http://schemas.openxmlformats.org/drawingml/2006/main">
              <a:srgbClr val="D8B76E"/>
            </a:solidFill>
          </c:spPr>
          <c:invertIfNegative val="0"/>
          <c:cat>
            <c:strRef>
              <c:f>'Chart Data'!$C$2:$C$5</c:f>
              <c:strCache>
                <c:ptCount val="4"/>
                <c:pt idx="0">
                  <c:v>2008 GFC</c:v>
                </c:pt>
                <c:pt idx="1">
                  <c:v>2020 COVID</c:v>
                </c:pt>
                <c:pt idx="2">
                  <c:v>2022 rates</c:v>
                </c:pt>
                <c:pt idx="3">
                  <c:v>Hypothetical funding squeeze</c:v>
                </c:pt>
              </c:strCache>
            </c:strRef>
          </c:cat>
          <c:val>
            <c:numRef>
              <c:f>'Chart Data'!$D$2:$D$5</c:f>
              <c:numCache>
                <c:formatCode>0.0</c:formatCode>
                <c:ptCount val="4"/>
                <c:pt idx="0">
                  <c:v>16.657559</c:v>
                </c:pt>
                <c:pt idx="1">
                  <c:v>11.128252</c:v>
                </c:pt>
                <c:pt idx="2">
                  <c:v>17.519206</c:v>
                </c:pt>
                <c:pt idx="3">
                  <c:v>15.226699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crossAx val="48672768"/>
      </c:catAx>
      <c:valAx>
        <c:axId val="48672768"/>
        <c:scaling>
          <c:orientation val="minMax"/>
        </c:scaling>
        <c:delete val="0"/>
        <c:axPos val="l"/>
        <c:majorGridlines>
          <c:spPr>
            <a:ln xmlns:a="http://schemas.openxmlformats.org/drawingml/2006/main" w="9525">
              <a:solidFill>
                <a:srgbClr val="29404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E8EFF2"/>
                </a:solidFill>
                <a:latin typeface="Aptos"/>
                <a:ea typeface="Aptos"/>
                <a:cs typeface="Aptos"/>
              </a:defRPr>
            </a:pPr>
          </a:p>
        </c:txPr>
        <c:crossAx val="48650112"/>
        <c:crossBetween val="between"/>
      </c:valAx>
      <c:spPr>
        <a:solidFill xmlns:a="http://schemas.openxmlformats.org/drawingml/2006/main">
          <a:srgbClr val="0C1822"/>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E8EFF2"/>
              </a:solidFill>
              <a:latin typeface="Aptos"/>
              <a:ea typeface="Aptos"/>
              <a:cs typeface="Aptos"/>
            </a:defRPr>
          </a:pPr>
        </a:p>
      </c:txPr>
    </c:legend>
    <c:plotVisOnly val="1"/>
  </c:chart>
  <c:spPr>
    <a:solidFill xmlns:a="http://schemas.openxmlformats.org/drawingml/2006/main">
      <a:srgbClr val="0C1822"/>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1DCB0F-44F7-4517-BCF6-691243CBCC38}"/>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12B95514-E864-421A-B941-873A4ECF1E60}"/>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0">
                <a:solidFill>
                  <a:srgbClr val="E8EFF2"/>
                </a:solidFill>
              </a:defRPr>
            </a:defPPr>
            <a:lvl1pPr>
              <a:defRPr sz="5100" b="0">
                <a:solidFill>
                  <a:srgbClr val="E8EFF2"/>
                </a:solidFill>
              </a:defRPr>
            </a:lvl1pPr>
            <a:lvl2pPr>
              <a:defRPr sz="5100" b="0">
                <a:solidFill>
                  <a:srgbClr val="E8EFF2"/>
                </a:solidFill>
              </a:defRPr>
            </a:lvl2pPr>
            <a:lvl3pPr>
              <a:defRPr sz="5100" b="0">
                <a:solidFill>
                  <a:srgbClr val="E8EFF2"/>
                </a:solidFill>
              </a:defRPr>
            </a:lvl3pPr>
            <a:lvl4pPr>
              <a:defRPr sz="5100" b="0">
                <a:solidFill>
                  <a:srgbClr val="E8EFF2"/>
                </a:solidFill>
              </a:defRPr>
            </a:lvl4pPr>
            <a:lvl5pPr>
              <a:defRPr sz="5100" b="0">
                <a:solidFill>
                  <a:srgbClr val="E8EFF2"/>
                </a:solidFill>
              </a:defRPr>
            </a:lvl5pPr>
            <a:lvl6pPr>
              <a:defRPr sz="5100" b="0">
                <a:solidFill>
                  <a:srgbClr val="E8EFF2"/>
                </a:solidFill>
              </a:defRPr>
            </a:lvl6pPr>
            <a:lvl7pPr>
              <a:defRPr sz="5100" b="0">
                <a:solidFill>
                  <a:srgbClr val="E8EFF2"/>
                </a:solidFill>
              </a:defRPr>
            </a:lvl7pPr>
            <a:lvl8pPr>
              <a:defRPr sz="5100" b="0">
                <a:solidFill>
                  <a:srgbClr val="E8EFF2"/>
                </a:solidFill>
              </a:defRPr>
            </a:lvl8pPr>
            <a:lvl9pPr>
              <a:defRPr sz="5100" b="0">
                <a:solidFill>
                  <a:srgbClr val="E8EFF2"/>
                </a:solidFill>
              </a:defRPr>
            </a:lvl9pPr>
          </a:lstStyle>
          <a:p xmlns:a="http://schemas.openxmlformats.org/drawingml/2006/main">
            <a:pPr>
              <a:defRPr sz="5100" b="0">
                <a:solidFill>
                  <a:srgbClr val="E8EFF2"/>
                </a:solidFill>
              </a:defRPr>
            </a:pPr>
            <a:r>
              <a:rPr sz="5100" b="0">
                <a:solidFill>
                  <a:srgbClr val="E8EFF2"/>
                </a:solidFill>
              </a:rPr>
              <a:t>AEGIS</a:t>
            </a:r>
          </a:p>
        </p:txBody>
      </p:sp>
      <p:sp>
        <p:nvSpPr>
          <p:cNvPr id="3" name="">
            <a:extLst xmlns:a="http://schemas.openxmlformats.org/drawingml/2006/main">
              <a:ext uri="{FF2B5EF4-FFF2-40B4-BE49-F238E27FC236}">
                <a16:creationId xmlns:a16="http://schemas.microsoft.com/office/drawing/2014/main" id="{59E66A33-A24F-4455-AE5A-F65F6E2D001F}"/>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Capital preservation research</a:t>
            </a:r>
          </a:p>
          <a:p xmlns:a="http://schemas.openxmlformats.org/drawingml/2006/main">
            <a:pPr>
              <a:defRPr sz="2625" b="0">
                <a:solidFill>
                  <a:srgbClr val="AAC1CD"/>
                </a:solidFill>
              </a:defRPr>
            </a:pPr>
            <a:r>
              <a:rPr sz="2625" b="0">
                <a:solidFill>
                  <a:srgbClr val="AAC1CD"/>
                </a:solidFill>
              </a:rPr>
              <a:t>Quantum-X · Serendib University Endowment</a:t>
            </a:r>
          </a:p>
          <a:p xmlns:a="http://schemas.openxmlformats.org/drawingml/2006/main">
            <a:pPr>
              <a:defRPr sz="2625" b="0">
                <a:solidFill>
                  <a:srgbClr val="AAC1CD"/>
                </a:solidFill>
              </a:defRPr>
            </a:pPr>
            <a:r>
              <a:rPr sz="2625" b="0">
                <a:solidFill>
                  <a:srgbClr val="AAC1CD"/>
                </a:solidFill>
              </a:rPr>
              <a:t>USD 10 million proposed mandate</a:t>
            </a:r>
          </a:p>
        </p:txBody>
      </p:sp>
      <p:sp>
        <p:nvSpPr>
          <p:cNvPr id="4" name="">
            <a:extLst xmlns:a="http://schemas.openxmlformats.org/drawingml/2006/main">
              <a:ext uri="{FF2B5EF4-FFF2-40B4-BE49-F238E27FC236}">
                <a16:creationId xmlns:a16="http://schemas.microsoft.com/office/drawing/2014/main" id="{1B7CC81A-F1F0-4862-8CF8-E10A06D121D3}"/>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01 / 12    ·    DATA THROUGH 30 SEP 2026    ·    PROPOSAL PENDING TEAM REVIEW</a:t>
            </a:r>
          </a:p>
        </p:txBody>
      </p:sp>
    </p:spTree>
    <p:extLst>
      <p:ext uri="{BB962C8B-B14F-4D97-AF65-F5344CB8AC3E}">
        <p14:creationId xmlns:p14="http://schemas.microsoft.com/office/powerpoint/2010/main" val="1094830448"/>
      </p:ext>
    </p:extLst>
  </p:cSld>
</p:sld>
</file>

<file path=ppt/slides/slide2.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81BC87-440B-4643-A22B-DAD2EE96E41C}"/>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351AC2CB-F3F8-4E7B-B07C-46484F1D0119}"/>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The investment decision</a:t>
            </a:r>
          </a:p>
        </p:txBody>
      </p:sp>
      <p:sp>
        <p:nvSpPr>
          <p:cNvPr id="3" name="">
            <a:extLst xmlns:a="http://schemas.openxmlformats.org/drawingml/2006/main">
              <a:ext uri="{FF2B5EF4-FFF2-40B4-BE49-F238E27FC236}">
                <a16:creationId xmlns:a16="http://schemas.microsoft.com/office/drawing/2014/main" id="{01CD4002-5A7E-41CD-BE49-10F431A273B5}"/>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ADJUST the mandate before funding</a:t>
            </a:r>
          </a:p>
          <a:p xmlns:a="http://schemas.openxmlformats.org/drawingml/2006/main">
            <a:pPr>
              <a:defRPr sz="2625" b="0">
                <a:solidFill>
                  <a:srgbClr val="AAC1CD"/>
                </a:solidFill>
              </a:defRPr>
            </a:pPr>
            <a:r>
              <a:rPr sz="2625" b="0">
                <a:solidFill>
                  <a:srgbClr val="AAC1CD"/>
                </a:solidFill>
              </a:rPr>
              <a:t>Resolve stress tolerance and the spending objective</a:t>
            </a:r>
          </a:p>
        </p:txBody>
      </p:sp>
      <p:sp>
        <p:nvSpPr>
          <p:cNvPr id="4" name="">
            <a:extLst xmlns:a="http://schemas.openxmlformats.org/drawingml/2006/main">
              <a:ext uri="{FF2B5EF4-FFF2-40B4-BE49-F238E27FC236}">
                <a16:creationId xmlns:a16="http://schemas.microsoft.com/office/drawing/2014/main" id="{9561A47B-1270-4F1A-B031-AEA0EAE4081B}"/>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02 / 12    ·    DATA THROUGH 30 SEP 2026    ·    PROPOSAL PENDING TEAM REVIEW</a:t>
            </a:r>
          </a:p>
        </p:txBody>
      </p:sp>
    </p:spTree>
    <p:extLst>
      <p:ext uri="{BB962C8B-B14F-4D97-AF65-F5344CB8AC3E}">
        <p14:creationId xmlns:p14="http://schemas.microsoft.com/office/powerpoint/2010/main" val="170970180"/>
      </p:ext>
    </p:extLst>
  </p:cSld>
</p:sld>
</file>

<file path=ppt/slides/slide3.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EF7A6D-8A50-4F83-AEF0-65A3A6C0E2DC}"/>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9150649E-8338-44BC-B099-CAB6A2A6EBD2}"/>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A conservative policy framework</a:t>
            </a:r>
          </a:p>
        </p:txBody>
      </p:sp>
      <p:sp>
        <p:nvSpPr>
          <p:cNvPr id="3" name="">
            <a:extLst xmlns:a="http://schemas.openxmlformats.org/drawingml/2006/main">
              <a:ext uri="{FF2B5EF4-FFF2-40B4-BE49-F238E27FC236}">
                <a16:creationId xmlns:a16="http://schemas.microsoft.com/office/drawing/2014/main" id="{2F762921-2273-4942-8402-4F1161FB460A}"/>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10+ year horizon · provisional 4% nominal objective</a:t>
            </a:r>
          </a:p>
          <a:p xmlns:a="http://schemas.openxmlformats.org/drawingml/2006/main">
            <a:pPr>
              <a:defRPr sz="2625" b="0">
                <a:solidFill>
                  <a:srgbClr val="AAC1CD"/>
                </a:solidFill>
              </a:defRPr>
            </a:pPr>
            <a:r>
              <a:rPr sz="2625" b="0">
                <a:solidFill>
                  <a:srgbClr val="AAC1CD"/>
                </a:solidFill>
              </a:rPr>
              <a:t>AGG 35–70% · gold 5–20% · equities 20–50%</a:t>
            </a:r>
          </a:p>
          <a:p xmlns:a="http://schemas.openxmlformats.org/drawingml/2006/main">
            <a:pPr>
              <a:defRPr sz="2625" b="0">
                <a:solidFill>
                  <a:srgbClr val="AAC1CD"/>
                </a:solidFill>
              </a:defRPr>
            </a:pPr>
            <a:r>
              <a:rPr sz="2625" b="0">
                <a:solidFill>
                  <a:srgbClr val="AAC1CD"/>
                </a:solidFill>
              </a:rPr>
              <a:t>No leverage; daily rebalancing is a research assumption</a:t>
            </a:r>
          </a:p>
        </p:txBody>
      </p:sp>
      <p:sp>
        <p:nvSpPr>
          <p:cNvPr id="4" name="">
            <a:extLst xmlns:a="http://schemas.openxmlformats.org/drawingml/2006/main">
              <a:ext uri="{FF2B5EF4-FFF2-40B4-BE49-F238E27FC236}">
                <a16:creationId xmlns:a16="http://schemas.microsoft.com/office/drawing/2014/main" id="{EC35BB45-9670-4BDB-BA25-DDB29E8DF681}"/>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03 / 12    ·    DATA THROUGH 30 SEP 2026    ·    PROPOSAL PENDING TEAM REVIEW</a:t>
            </a:r>
          </a:p>
        </p:txBody>
      </p:sp>
    </p:spTree>
    <p:extLst>
      <p:ext uri="{BB962C8B-B14F-4D97-AF65-F5344CB8AC3E}">
        <p14:creationId xmlns:p14="http://schemas.microsoft.com/office/powerpoint/2010/main" val="2144702056"/>
      </p:ext>
    </p:extLst>
  </p:cSld>
</p:sld>
</file>

<file path=ppt/slides/slide4.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9FBAAD-DAD5-4FF8-A223-C829D09F1D45}"/>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A7D0354D-55B2-48AE-A5D4-4BAEF2839D04}"/>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Data before decisions</a:t>
            </a:r>
          </a:p>
        </p:txBody>
      </p:sp>
      <p:sp>
        <p:nvSpPr>
          <p:cNvPr id="3" name="">
            <a:extLst xmlns:a="http://schemas.openxmlformats.org/drawingml/2006/main">
              <a:ext uri="{FF2B5EF4-FFF2-40B4-BE49-F238E27FC236}">
                <a16:creationId xmlns:a16="http://schemas.microsoft.com/office/drawing/2014/main" id="{43EE72DD-4D19-4475-ACE0-1BCE2649F466}"/>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5,470 aligned adjusted closes · seven eligible ETFs</a:t>
            </a:r>
          </a:p>
          <a:p xmlns:a="http://schemas.openxmlformats.org/drawingml/2006/main">
            <a:pPr>
              <a:defRPr sz="2625" b="0">
                <a:solidFill>
                  <a:srgbClr val="AAC1CD"/>
                </a:solidFill>
              </a:defRPr>
            </a:pPr>
            <a:r>
              <a:rPr sz="2625" b="0">
                <a:solidFill>
                  <a:srgbClr val="AAC1CD"/>
                </a:solidFill>
              </a:rPr>
              <a:t>Training through 2018 · development 2019–2022</a:t>
            </a:r>
          </a:p>
          <a:p xmlns:a="http://schemas.openxmlformats.org/drawingml/2006/main">
            <a:pPr>
              <a:defRPr sz="2625" b="0">
                <a:solidFill>
                  <a:srgbClr val="AAC1CD"/>
                </a:solidFill>
              </a:defRPr>
            </a:pPr>
            <a:r>
              <a:rPr sz="2625" b="0">
                <a:solidFill>
                  <a:srgbClr val="AAC1CD"/>
                </a:solidFill>
              </a:rPr>
              <a:t>Test 2023-01-03 to 2026-09-30</a:t>
            </a:r>
          </a:p>
        </p:txBody>
      </p:sp>
      <p:sp>
        <p:nvSpPr>
          <p:cNvPr id="4" name="">
            <a:extLst xmlns:a="http://schemas.openxmlformats.org/drawingml/2006/main">
              <a:ext uri="{FF2B5EF4-FFF2-40B4-BE49-F238E27FC236}">
                <a16:creationId xmlns:a16="http://schemas.microsoft.com/office/drawing/2014/main" id="{D88F76BB-C3BF-4BFA-9BE9-20E3E069A7D9}"/>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04 / 12    ·    DATA THROUGH 30 SEP 2026    ·    PROPOSAL PENDING TEAM REVIEW</a:t>
            </a:r>
          </a:p>
        </p:txBody>
      </p:sp>
    </p:spTree>
    <p:extLst>
      <p:ext uri="{BB962C8B-B14F-4D97-AF65-F5344CB8AC3E}">
        <p14:creationId xmlns:p14="http://schemas.microsoft.com/office/powerpoint/2010/main" val="510216150"/>
      </p:ext>
    </p:extLst>
  </p:cSld>
</p:sld>
</file>

<file path=ppt/slides/slide5.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9F30BE-2603-4A8D-800E-C794B1344C0F}"/>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96C226FD-9F0E-44B9-9670-4A0F97C3C81F}"/>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The proposed allocation</a:t>
            </a:r>
          </a:p>
        </p:txBody>
      </p:sp>
      <p:sp>
        <p:nvSpPr>
          <p:cNvPr id="3" name="">
            <a:extLst xmlns:a="http://schemas.openxmlformats.org/drawingml/2006/main">
              <a:ext uri="{FF2B5EF4-FFF2-40B4-BE49-F238E27FC236}">
                <a16:creationId xmlns:a16="http://schemas.microsoft.com/office/drawing/2014/main" id="{2E6A358C-1006-4DC7-AAB3-F21C4DED14FA}"/>
              </a:ext>
            </a:extLst>
          </p:cNvPr>
          <p:cNvSpPr>
            <a:spLocks xmlns:a="http://schemas.openxmlformats.org/drawingml/2006/main" noGrp="1"/>
          </p:cNvSpPr>
          <p:nvPr/>
        </p:nvSpPr>
        <p:spPr>
          <a:xfrm xmlns:a="http://schemas.openxmlformats.org/drawingml/2006/main">
            <a:off x="619125" y="2009775"/>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AC1CD"/>
                </a:solidFill>
              </a:defRPr>
            </a:defPPr>
            <a:lvl1pPr>
              <a:defRPr sz="1875" b="0">
                <a:solidFill>
                  <a:srgbClr val="AAC1CD"/>
                </a:solidFill>
              </a:defRPr>
            </a:lvl1pPr>
            <a:lvl2pPr>
              <a:defRPr sz="1875" b="0">
                <a:solidFill>
                  <a:srgbClr val="AAC1CD"/>
                </a:solidFill>
              </a:defRPr>
            </a:lvl2pPr>
            <a:lvl3pPr>
              <a:defRPr sz="1875" b="0">
                <a:solidFill>
                  <a:srgbClr val="AAC1CD"/>
                </a:solidFill>
              </a:defRPr>
            </a:lvl3pPr>
            <a:lvl4pPr>
              <a:defRPr sz="1875" b="0">
                <a:solidFill>
                  <a:srgbClr val="AAC1CD"/>
                </a:solidFill>
              </a:defRPr>
            </a:lvl4pPr>
            <a:lvl5pPr>
              <a:defRPr sz="1875" b="0">
                <a:solidFill>
                  <a:srgbClr val="AAC1CD"/>
                </a:solidFill>
              </a:defRPr>
            </a:lvl5pPr>
            <a:lvl6pPr>
              <a:defRPr sz="1875" b="0">
                <a:solidFill>
                  <a:srgbClr val="AAC1CD"/>
                </a:solidFill>
              </a:defRPr>
            </a:lvl6pPr>
            <a:lvl7pPr>
              <a:defRPr sz="1875" b="0">
                <a:solidFill>
                  <a:srgbClr val="AAC1CD"/>
                </a:solidFill>
              </a:defRPr>
            </a:lvl7pPr>
            <a:lvl8pPr>
              <a:defRPr sz="1875" b="0">
                <a:solidFill>
                  <a:srgbClr val="AAC1CD"/>
                </a:solidFill>
              </a:defRPr>
            </a:lvl8pPr>
            <a:lvl9pPr>
              <a:defRPr sz="1875" b="0">
                <a:solidFill>
                  <a:srgbClr val="AAC1CD"/>
                </a:solidFill>
              </a:defRPr>
            </a:lvl9pPr>
          </a:lstStyle>
          <a:p xmlns:a="http://schemas.openxmlformats.org/drawingml/2006/main">
            <a:pPr>
              <a:defRPr sz="1875" b="0">
                <a:solidFill>
                  <a:srgbClr val="AAC1CD"/>
                </a:solidFill>
              </a:defRPr>
            </a:pPr>
            <a:r>
              <a:rPr sz="1875" b="0">
                <a:solidFill>
                  <a:srgbClr val="AAC1CD"/>
                </a:solidFill>
              </a:rPr>
              <a:t>Training variance minimization</a:t>
            </a:r>
          </a:p>
          <a:p xmlns:a="http://schemas.openxmlformats.org/drawingml/2006/main">
            <a:pPr>
              <a:defRPr sz="1875" b="0">
                <a:solidFill>
                  <a:srgbClr val="AAC1CD"/>
                </a:solidFill>
              </a:defRPr>
            </a:pPr>
            <a:r>
              <a:rPr sz="1875" b="0">
                <a:solidFill>
                  <a:srgbClr val="AAC1CD"/>
                </a:solidFill>
              </a:rPr>
              <a:t>The AGG cap binds; bond concentration remains a risk</a:t>
            </a:r>
          </a:p>
        </p:txBody>
      </p:sp>
      <p:graphicFrame>
        <p:nvGraphicFramePr>
          <p:cNvPr id="4" name="Chart">
            <a:extLst xmlns:a="http://schemas.openxmlformats.org/drawingml/2006/main">
              <a:ext uri="{FF2B5EF4-FFF2-40B4-BE49-F238E27FC236}">
                <a16:creationId xmlns:a16="http://schemas.microsoft.com/office/drawing/2014/main" id="{0D5F45B3-9A0F-4DB6-A05E-2E2653691F45}"/>
              </a:ext>
            </a:extLst>
          </p:cNvPr>
          <p:cNvGraphicFramePr/>
          <p:nvPr/>
        </p:nvGraphicFramePr>
        <p:xfrm>
          <a:off xmlns:a="http://schemas.openxmlformats.org/drawingml/2006/main" x="619125" y="3314700"/>
          <a:ext xmlns:a="http://schemas.openxmlformats.org/drawingml/2006/main" cx="10858500" cy="2781300"/>
        </p:xfrm>
        <a:graphic xmlns:a="http://schemas.openxmlformats.org/drawingml/2006/main">
          <a:graphicData uri="http://schemas.openxmlformats.org/drawingml/2006/chart">
            <c:chart xmlns:r="http://schemas.openxmlformats.org/officeDocument/2006/relationships" xmlns:c="http://schemas.openxmlformats.org/drawingml/2006/chart" r:id="R65e3ddc64b8c4138"/>
          </a:graphicData>
        </a:graphic>
      </p:graphicFrame>
      <p:sp>
        <p:nvSpPr>
          <p:cNvPr id="5" name="">
            <a:extLst xmlns:a="http://schemas.openxmlformats.org/drawingml/2006/main">
              <a:ext uri="{FF2B5EF4-FFF2-40B4-BE49-F238E27FC236}">
                <a16:creationId xmlns:a16="http://schemas.microsoft.com/office/drawing/2014/main" id="{FF4AA797-DB6E-46E8-A0F8-04A3B1CE71A1}"/>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05 / 12    ·    DATA THROUGH 30 SEP 2026    ·    PROPOSAL PENDING TEAM REVIEW</a:t>
            </a:r>
          </a:p>
        </p:txBody>
      </p:sp>
    </p:spTree>
    <p:extLst>
      <p:ext uri="{BB962C8B-B14F-4D97-AF65-F5344CB8AC3E}">
        <p14:creationId xmlns:p14="http://schemas.microsoft.com/office/powerpoint/2010/main" val="563878271"/>
      </p:ext>
    </p:extLst>
  </p:cSld>
</p:sld>
</file>

<file path=ppt/slides/slide6.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3ABDBC-9DFC-49AC-B39F-9019A6A5DED1}"/>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7166FDF2-4AB4-44B2-94FF-EDFAEAABD3F9}"/>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Return is one part of suitability</a:t>
            </a:r>
          </a:p>
        </p:txBody>
      </p:sp>
      <p:sp>
        <p:nvSpPr>
          <p:cNvPr id="3" name="">
            <a:extLst xmlns:a="http://schemas.openxmlformats.org/drawingml/2006/main">
              <a:ext uri="{FF2B5EF4-FFF2-40B4-BE49-F238E27FC236}">
                <a16:creationId xmlns:a16="http://schemas.microsoft.com/office/drawing/2014/main" id="{CA9F9981-8A17-4436-9B99-74E4767AC79D}"/>
              </a:ext>
            </a:extLst>
          </p:cNvPr>
          <p:cNvSpPr>
            <a:spLocks xmlns:a="http://schemas.openxmlformats.org/drawingml/2006/main" noGrp="1"/>
          </p:cNvSpPr>
          <p:nvPr/>
        </p:nvSpPr>
        <p:spPr>
          <a:xfrm xmlns:a="http://schemas.openxmlformats.org/drawingml/2006/main">
            <a:off x="619125" y="2009775"/>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AC1CD"/>
                </a:solidFill>
              </a:defRPr>
            </a:defPPr>
            <a:lvl1pPr>
              <a:defRPr sz="1875" b="0">
                <a:solidFill>
                  <a:srgbClr val="AAC1CD"/>
                </a:solidFill>
              </a:defRPr>
            </a:lvl1pPr>
            <a:lvl2pPr>
              <a:defRPr sz="1875" b="0">
                <a:solidFill>
                  <a:srgbClr val="AAC1CD"/>
                </a:solidFill>
              </a:defRPr>
            </a:lvl2pPr>
            <a:lvl3pPr>
              <a:defRPr sz="1875" b="0">
                <a:solidFill>
                  <a:srgbClr val="AAC1CD"/>
                </a:solidFill>
              </a:defRPr>
            </a:lvl3pPr>
            <a:lvl4pPr>
              <a:defRPr sz="1875" b="0">
                <a:solidFill>
                  <a:srgbClr val="AAC1CD"/>
                </a:solidFill>
              </a:defRPr>
            </a:lvl4pPr>
            <a:lvl5pPr>
              <a:defRPr sz="1875" b="0">
                <a:solidFill>
                  <a:srgbClr val="AAC1CD"/>
                </a:solidFill>
              </a:defRPr>
            </a:lvl5pPr>
            <a:lvl6pPr>
              <a:defRPr sz="1875" b="0">
                <a:solidFill>
                  <a:srgbClr val="AAC1CD"/>
                </a:solidFill>
              </a:defRPr>
            </a:lvl6pPr>
            <a:lvl7pPr>
              <a:defRPr sz="1875" b="0">
                <a:solidFill>
                  <a:srgbClr val="AAC1CD"/>
                </a:solidFill>
              </a:defRPr>
            </a:lvl7pPr>
            <a:lvl8pPr>
              <a:defRPr sz="1875" b="0">
                <a:solidFill>
                  <a:srgbClr val="AAC1CD"/>
                </a:solidFill>
              </a:defRPr>
            </a:lvl8pPr>
            <a:lvl9pPr>
              <a:defRPr sz="1875" b="0">
                <a:solidFill>
                  <a:srgbClr val="AAC1CD"/>
                </a:solidFill>
              </a:defRPr>
            </a:lvl9pPr>
          </a:lstStyle>
          <a:p xmlns:a="http://schemas.openxmlformats.org/drawingml/2006/main">
            <a:pPr>
              <a:defRPr sz="1875" b="0">
                <a:solidFill>
                  <a:srgbClr val="AAC1CD"/>
                </a:solidFill>
              </a:defRPr>
            </a:pPr>
            <a:r>
              <a:rPr sz="1875" b="0">
                <a:solidFill>
                  <a:srgbClr val="AAC1CD"/>
                </a:solidFill>
              </a:rPr>
              <a:t>AEGIS net held-out CAGR 9.99%</a:t>
            </a:r>
          </a:p>
          <a:p xmlns:a="http://schemas.openxmlformats.org/drawingml/2006/main">
            <a:pPr>
              <a:defRPr sz="1875" b="0">
                <a:solidFill>
                  <a:srgbClr val="AAC1CD"/>
                </a:solidFill>
              </a:defRPr>
            </a:pPr>
            <a:r>
              <a:rPr sz="1875" b="0">
                <a:solidFill>
                  <a:srgbClr val="AAC1CD"/>
                </a:solidFill>
              </a:rPr>
              <a:t>Annual volatility 6.64% · drawdown 6.12%</a:t>
            </a:r>
          </a:p>
        </p:txBody>
      </p:sp>
      <p:graphicFrame>
        <p:nvGraphicFramePr>
          <p:cNvPr id="4" name="">
            <a:extLst xmlns:a="http://schemas.openxmlformats.org/drawingml/2006/main">
              <a:ext uri="{FF2B5EF4-FFF2-40B4-BE49-F238E27FC236}">
                <a16:creationId xmlns:a16="http://schemas.microsoft.com/office/drawing/2014/main" id="{EAB4EB6A-868F-4441-86B2-0DAEAC30171E}"/>
              </a:ext>
            </a:extLst>
          </p:cNvPr>
          <p:cNvGraphicFramePr/>
          <p:nvPr/>
        </p:nvGraphicFramePr>
        <p:xfrm>
          <a:off xmlns:a="http://schemas.openxmlformats.org/drawingml/2006/main" x="619125" y="3295650"/>
          <a:ext xmlns:a="http://schemas.openxmlformats.org/drawingml/2006/main" cx="10858500" cy="2781300"/>
        </p:xfrm>
        <a:graphic xmlns:a="http://schemas.openxmlformats.org/drawingml/2006/main">
          <a:graphicData uri="http://schemas.openxmlformats.org/drawingml/2006/table">
            <a:tbl>
              <a:tblPr/>
              <a:tblGrid>
                <a:gridCol w="4572000"/>
                <a:gridCol w="2095500"/>
                <a:gridCol w="2095500"/>
                <a:gridCol w="2095500"/>
              </a:tblGrid>
              <a:tr h="463550">
                <a:tc>
                  <a:txBody>
                    <a:bodyPr/>
                    <a:lstStyle/>
                    <a:p>
                      <a:r>
                        <a:rPr sz="1425" b="1">
                          <a:solidFill>
                            <a:srgbClr val="E8EFF2"/>
                          </a:solidFill>
                        </a:rPr>
                        <a:t>Portfolio</a:t>
                      </a:r>
                    </a:p>
                  </a:txBody>
                  <a:tcPr marL="91440" marR="91440" marT="45720" marB="45720">
                    <a:lnL w="9525">
                      <a:solidFill>
                        <a:srgbClr val="34505E"/>
                      </a:solidFill>
                      <a:prstDash val="solid"/>
                    </a:lnL>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Net CAGR</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Volatility</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Max DD</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r>
              <a:tr h="463550">
                <a:tc>
                  <a:txBody>
                    <a:bodyPr/>
                    <a:lstStyle/>
                    <a:p>
                      <a:r>
                        <a:rPr sz="1425" b="0">
                          <a:solidFill>
                            <a:srgbClr val="E8EFF2"/>
                          </a:solidFill>
                        </a:rPr>
                        <a:t>AEGIS minimum variance</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9.99%</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6.64%</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6.12%</a:t>
                      </a:r>
                    </a:p>
                  </a:txBody>
                  <a:tcPr marL="91440" marR="91440" marT="45720" marB="45720">
                    <a:lnR w="9525">
                      <a:solidFill>
                        <a:srgbClr val="34505E"/>
                      </a:solidFill>
                      <a:prstDash val="solid"/>
                    </a:lnR>
                    <a:lnB w="9525">
                      <a:solidFill>
                        <a:srgbClr val="34505E"/>
                      </a:solidFill>
                      <a:prstDash val="solid"/>
                    </a:lnB>
                    <a:solidFill>
                      <a:srgbClr val="132633"/>
                    </a:solidFill>
                  </a:tcPr>
                </a:tc>
              </a:tr>
              <a:tr h="463550">
                <a:tc>
                  <a:txBody>
                    <a:bodyPr/>
                    <a:lstStyle/>
                    <a:p>
                      <a:r>
                        <a:rPr sz="1425" b="0">
                          <a:solidFill>
                            <a:srgbClr val="E8EFF2"/>
                          </a:solidFill>
                        </a:rPr>
                        <a:t>Mean variance</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12.78%</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7.81%</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6.49%</a:t>
                      </a:r>
                    </a:p>
                  </a:txBody>
                  <a:tcPr marL="91440" marR="91440" marT="45720" marB="45720">
                    <a:lnR w="9525">
                      <a:solidFill>
                        <a:srgbClr val="34505E"/>
                      </a:solidFill>
                      <a:prstDash val="solid"/>
                    </a:lnR>
                    <a:lnB w="9525">
                      <a:solidFill>
                        <a:srgbClr val="34505E"/>
                      </a:solidFill>
                      <a:prstDash val="solid"/>
                    </a:lnB>
                    <a:solidFill>
                      <a:srgbClr val="0C1822"/>
                    </a:solidFill>
                  </a:tcPr>
                </a:tc>
              </a:tr>
              <a:tr h="463550">
                <a:tc>
                  <a:txBody>
                    <a:bodyPr/>
                    <a:lstStyle/>
                    <a:p>
                      <a:r>
                        <a:rPr sz="1425" b="0">
                          <a:solidFill>
                            <a:srgbClr val="E8EFF2"/>
                          </a:solidFill>
                        </a:rPr>
                        <a:t>Constrained risk parity</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11.23%</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7.11%</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5.80%</a:t>
                      </a:r>
                    </a:p>
                  </a:txBody>
                  <a:tcPr marL="91440" marR="91440" marT="45720" marB="45720">
                    <a:lnR w="9525">
                      <a:solidFill>
                        <a:srgbClr val="34505E"/>
                      </a:solidFill>
                      <a:prstDash val="solid"/>
                    </a:lnR>
                    <a:lnB w="9525">
                      <a:solidFill>
                        <a:srgbClr val="34505E"/>
                      </a:solidFill>
                      <a:prstDash val="solid"/>
                    </a:lnB>
                    <a:solidFill>
                      <a:srgbClr val="132633"/>
                    </a:solidFill>
                  </a:tcPr>
                </a:tc>
              </a:tr>
              <a:tr h="463550">
                <a:tc>
                  <a:txBody>
                    <a:bodyPr/>
                    <a:lstStyle/>
                    <a:p>
                      <a:r>
                        <a:rPr sz="1425" b="0">
                          <a:solidFill>
                            <a:srgbClr val="E8EFF2"/>
                          </a:solidFill>
                        </a:rPr>
                        <a:t>Equal weight</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19.81%</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11.93%</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12.32%</a:t>
                      </a:r>
                    </a:p>
                  </a:txBody>
                  <a:tcPr marL="91440" marR="91440" marT="45720" marB="45720">
                    <a:lnR w="9525">
                      <a:solidFill>
                        <a:srgbClr val="34505E"/>
                      </a:solidFill>
                      <a:prstDash val="solid"/>
                    </a:lnR>
                    <a:lnB w="9525">
                      <a:solidFill>
                        <a:srgbClr val="34505E"/>
                      </a:solidFill>
                      <a:prstDash val="solid"/>
                    </a:lnB>
                    <a:solidFill>
                      <a:srgbClr val="0C1822"/>
                    </a:solidFill>
                  </a:tcPr>
                </a:tc>
              </a:tr>
              <a:tr h="463550">
                <a:tc>
                  <a:txBody>
                    <a:bodyPr/>
                    <a:lstStyle/>
                    <a:p>
                      <a:r>
                        <a:rPr sz="1425" b="0">
                          <a:solidFill>
                            <a:srgbClr val="E8EFF2"/>
                          </a:solidFill>
                        </a:rPr>
                        <a:t>60/40 benchmark</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14.16%</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9.62%</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11.29%</a:t>
                      </a:r>
                    </a:p>
                  </a:txBody>
                  <a:tcPr marL="91440" marR="91440" marT="45720" marB="45720">
                    <a:lnR w="9525">
                      <a:solidFill>
                        <a:srgbClr val="34505E"/>
                      </a:solidFill>
                      <a:prstDash val="solid"/>
                    </a:lnR>
                    <a:lnB w="9525">
                      <a:solidFill>
                        <a:srgbClr val="34505E"/>
                      </a:solidFill>
                      <a:prstDash val="solid"/>
                    </a:lnB>
                    <a:solidFill>
                      <a:srgbClr val="132633"/>
                    </a:solidFill>
                  </a:tcPr>
                </a:tc>
              </a:tr>
            </a:tbl>
          </a:graphicData>
        </a:graphic>
      </p:graphicFrame>
      <p:sp>
        <p:nvSpPr>
          <p:cNvPr id="5" name="">
            <a:extLst xmlns:a="http://schemas.openxmlformats.org/drawingml/2006/main">
              <a:ext uri="{FF2B5EF4-FFF2-40B4-BE49-F238E27FC236}">
                <a16:creationId xmlns:a16="http://schemas.microsoft.com/office/drawing/2014/main" id="{19411B65-388E-45A2-9116-8A86A36DFF5C}"/>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06 / 12    ·    DATA THROUGH 30 SEP 2026    ·    PROPOSAL PENDING TEAM REVIEW</a:t>
            </a:r>
          </a:p>
        </p:txBody>
      </p:sp>
    </p:spTree>
    <p:extLst>
      <p:ext uri="{BB962C8B-B14F-4D97-AF65-F5344CB8AC3E}">
        <p14:creationId xmlns:p14="http://schemas.microsoft.com/office/powerpoint/2010/main" val="1053127681"/>
      </p:ext>
    </p:extLst>
  </p:cSld>
</p:sld>
</file>

<file path=ppt/slides/slide7.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34D784-991E-4138-9A5C-6A19E60E88F8}"/>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C75125D9-E4CA-47A4-B2B7-B76A2070FE3D}"/>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Risk estimates depend on assumptions</a:t>
            </a:r>
          </a:p>
        </p:txBody>
      </p:sp>
      <p:sp>
        <p:nvSpPr>
          <p:cNvPr id="3" name="">
            <a:extLst xmlns:a="http://schemas.openxmlformats.org/drawingml/2006/main">
              <a:ext uri="{FF2B5EF4-FFF2-40B4-BE49-F238E27FC236}">
                <a16:creationId xmlns:a16="http://schemas.microsoft.com/office/drawing/2014/main" id="{703D0F5A-02BB-406A-BB3A-47D22046A884}"/>
              </a:ext>
            </a:extLst>
          </p:cNvPr>
          <p:cNvSpPr>
            <a:spLocks xmlns:a="http://schemas.openxmlformats.org/drawingml/2006/main" noGrp="1"/>
          </p:cNvSpPr>
          <p:nvPr/>
        </p:nvSpPr>
        <p:spPr>
          <a:xfrm xmlns:a="http://schemas.openxmlformats.org/drawingml/2006/main">
            <a:off x="619125" y="2009775"/>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AC1CD"/>
                </a:solidFill>
              </a:defRPr>
            </a:defPPr>
            <a:lvl1pPr>
              <a:defRPr sz="1875" b="0">
                <a:solidFill>
                  <a:srgbClr val="AAC1CD"/>
                </a:solidFill>
              </a:defRPr>
            </a:lvl1pPr>
            <a:lvl2pPr>
              <a:defRPr sz="1875" b="0">
                <a:solidFill>
                  <a:srgbClr val="AAC1CD"/>
                </a:solidFill>
              </a:defRPr>
            </a:lvl2pPr>
            <a:lvl3pPr>
              <a:defRPr sz="1875" b="0">
                <a:solidFill>
                  <a:srgbClr val="AAC1CD"/>
                </a:solidFill>
              </a:defRPr>
            </a:lvl3pPr>
            <a:lvl4pPr>
              <a:defRPr sz="1875" b="0">
                <a:solidFill>
                  <a:srgbClr val="AAC1CD"/>
                </a:solidFill>
              </a:defRPr>
            </a:lvl4pPr>
            <a:lvl5pPr>
              <a:defRPr sz="1875" b="0">
                <a:solidFill>
                  <a:srgbClr val="AAC1CD"/>
                </a:solidFill>
              </a:defRPr>
            </a:lvl5pPr>
            <a:lvl6pPr>
              <a:defRPr sz="1875" b="0">
                <a:solidFill>
                  <a:srgbClr val="AAC1CD"/>
                </a:solidFill>
              </a:defRPr>
            </a:lvl6pPr>
            <a:lvl7pPr>
              <a:defRPr sz="1875" b="0">
                <a:solidFill>
                  <a:srgbClr val="AAC1CD"/>
                </a:solidFill>
              </a:defRPr>
            </a:lvl7pPr>
            <a:lvl8pPr>
              <a:defRPr sz="1875" b="0">
                <a:solidFill>
                  <a:srgbClr val="AAC1CD"/>
                </a:solidFill>
              </a:defRPr>
            </a:lvl8pPr>
            <a:lvl9pPr>
              <a:defRPr sz="1875" b="0">
                <a:solidFill>
                  <a:srgbClr val="AAC1CD"/>
                </a:solidFill>
              </a:defRPr>
            </a:lvl9pPr>
          </a:lstStyle>
          <a:p xmlns:a="http://schemas.openxmlformats.org/drawingml/2006/main">
            <a:pPr>
              <a:defRPr sz="1875" b="0">
                <a:solidFill>
                  <a:srgbClr val="AAC1CD"/>
                </a:solidFill>
              </a:defRPr>
            </a:pPr>
            <a:r>
              <a:rPr sz="1875" b="0">
                <a:solidFill>
                  <a:srgbClr val="AAC1CD"/>
                </a:solidFill>
              </a:rPr>
              <a:t>One-day 99% losses on the same portfolio</a:t>
            </a:r>
          </a:p>
          <a:p xmlns:a="http://schemas.openxmlformats.org/drawingml/2006/main">
            <a:pPr>
              <a:defRPr sz="1875" b="0">
                <a:solidFill>
                  <a:srgbClr val="AAC1CD"/>
                </a:solidFill>
              </a:defRPr>
            </a:pPr>
            <a:r>
              <a:rPr sz="1875" b="0">
                <a:solidFill>
                  <a:srgbClr val="AAC1CD"/>
                </a:solidFill>
              </a:rPr>
              <a:t>Gaussian agreement does not establish tail adequacy</a:t>
            </a:r>
          </a:p>
        </p:txBody>
      </p:sp>
      <p:graphicFrame>
        <p:nvGraphicFramePr>
          <p:cNvPr id="4" name="Chart">
            <a:extLst xmlns:a="http://schemas.openxmlformats.org/drawingml/2006/main">
              <a:ext uri="{FF2B5EF4-FFF2-40B4-BE49-F238E27FC236}">
                <a16:creationId xmlns:a16="http://schemas.microsoft.com/office/drawing/2014/main" id="{D64FCD40-A328-4C25-B81F-6BA1C5842BBF}"/>
              </a:ext>
            </a:extLst>
          </p:cNvPr>
          <p:cNvGraphicFramePr/>
          <p:nvPr/>
        </p:nvGraphicFramePr>
        <p:xfrm>
          <a:off xmlns:a="http://schemas.openxmlformats.org/drawingml/2006/main" x="619125" y="3314700"/>
          <a:ext xmlns:a="http://schemas.openxmlformats.org/drawingml/2006/main" cx="10858500" cy="2781300"/>
        </p:xfrm>
        <a:graphic xmlns:a="http://schemas.openxmlformats.org/drawingml/2006/main">
          <a:graphicData uri="http://schemas.openxmlformats.org/drawingml/2006/chart">
            <c:chart xmlns:r="http://schemas.openxmlformats.org/officeDocument/2006/relationships" xmlns:c="http://schemas.openxmlformats.org/drawingml/2006/chart" r:id="Rc2c2c80223f04063"/>
          </a:graphicData>
        </a:graphic>
      </p:graphicFrame>
      <p:sp>
        <p:nvSpPr>
          <p:cNvPr id="5" name="">
            <a:extLst xmlns:a="http://schemas.openxmlformats.org/drawingml/2006/main">
              <a:ext uri="{FF2B5EF4-FFF2-40B4-BE49-F238E27FC236}">
                <a16:creationId xmlns:a16="http://schemas.microsoft.com/office/drawing/2014/main" id="{5C939594-20E4-4B38-9578-DCE70A0A00E1}"/>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07 / 12    ·    DATA THROUGH 30 SEP 2026    ·    PROPOSAL PENDING TEAM REVIEW</a:t>
            </a:r>
          </a:p>
        </p:txBody>
      </p:sp>
    </p:spTree>
    <p:extLst>
      <p:ext uri="{BB962C8B-B14F-4D97-AF65-F5344CB8AC3E}">
        <p14:creationId xmlns:p14="http://schemas.microsoft.com/office/powerpoint/2010/main" val="1272410536"/>
      </p:ext>
    </p:extLst>
  </p:cSld>
</p:sld>
</file>

<file path=ppt/slides/slide8.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D4C331-655A-4A6E-937A-2BA02711D2FC}"/>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F5C95721-85EB-4278-82CE-CB7EAE434705}"/>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EVT makes uncertainty visible</a:t>
            </a:r>
          </a:p>
        </p:txBody>
      </p:sp>
      <p:sp>
        <p:nvSpPr>
          <p:cNvPr id="3" name="">
            <a:extLst xmlns:a="http://schemas.openxmlformats.org/drawingml/2006/main">
              <a:ext uri="{FF2B5EF4-FFF2-40B4-BE49-F238E27FC236}">
                <a16:creationId xmlns:a16="http://schemas.microsoft.com/office/drawing/2014/main" id="{C81FC514-5B94-4A92-903C-D5CC17F6B0E5}"/>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90% threshold · 76 exceedances</a:t>
            </a:r>
          </a:p>
          <a:p xmlns:a="http://schemas.openxmlformats.org/drawingml/2006/main">
            <a:pPr>
              <a:defRPr sz="2625" b="0">
                <a:solidFill>
                  <a:srgbClr val="AAC1CD"/>
                </a:solidFill>
              </a:defRPr>
            </a:pPr>
            <a:r>
              <a:rPr sz="2625" b="0">
                <a:solidFill>
                  <a:srgbClr val="AAC1CD"/>
                </a:solidFill>
              </a:rPr>
              <a:t>Shape -0.189; uncertainty spans zero</a:t>
            </a:r>
          </a:p>
          <a:p xmlns:a="http://schemas.openxmlformats.org/drawingml/2006/main">
            <a:pPr>
              <a:defRPr sz="2625" b="0">
                <a:solidFill>
                  <a:srgbClr val="AAC1CD"/>
                </a:solidFill>
              </a:defRPr>
            </a:pPr>
            <a:r>
              <a:rPr sz="2625" b="0">
                <a:solidFill>
                  <a:srgbClr val="AAC1CD"/>
                </a:solidFill>
              </a:rPr>
              <a:t>Tail laboratory exposes threshold sensitivity</a:t>
            </a:r>
          </a:p>
        </p:txBody>
      </p:sp>
      <p:sp>
        <p:nvSpPr>
          <p:cNvPr id="4" name="">
            <a:extLst xmlns:a="http://schemas.openxmlformats.org/drawingml/2006/main">
              <a:ext uri="{FF2B5EF4-FFF2-40B4-BE49-F238E27FC236}">
                <a16:creationId xmlns:a16="http://schemas.microsoft.com/office/drawing/2014/main" id="{7A2C4A57-5BD3-42E3-80EA-1BFE00E6C0E3}"/>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08 / 12    ·    DATA THROUGH 30 SEP 2026    ·    PROPOSAL PENDING TEAM REVIEW</a:t>
            </a:r>
          </a:p>
        </p:txBody>
      </p:sp>
    </p:spTree>
    <p:extLst>
      <p:ext uri="{BB962C8B-B14F-4D97-AF65-F5344CB8AC3E}">
        <p14:creationId xmlns:p14="http://schemas.microsoft.com/office/powerpoint/2010/main" val="1927813903"/>
      </p:ext>
    </p:extLst>
  </p:cSld>
</p:sld>
</file>

<file path=ppt/slides/slide9.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63F286-20AC-4BB4-A06F-FBA104125DB2}"/>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A563D77F-39C9-4E79-A2F9-C7AEF7CB6F8F}"/>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Forecasts precede observed losses</a:t>
            </a:r>
          </a:p>
        </p:txBody>
      </p:sp>
      <p:sp>
        <p:nvSpPr>
          <p:cNvPr id="3" name="">
            <a:extLst xmlns:a="http://schemas.openxmlformats.org/drawingml/2006/main">
              <a:ext uri="{FF2B5EF4-FFF2-40B4-BE49-F238E27FC236}">
                <a16:creationId xmlns:a16="http://schemas.microsoft.com/office/drawing/2014/main" id="{CAB48650-AF98-45FB-B2C5-184625D288DE}"/>
              </a:ext>
            </a:extLst>
          </p:cNvPr>
          <p:cNvSpPr>
            <a:spLocks xmlns:a="http://schemas.openxmlformats.org/drawingml/2006/main" noGrp="1"/>
          </p:cNvSpPr>
          <p:nvPr/>
        </p:nvSpPr>
        <p:spPr>
          <a:xfrm xmlns:a="http://schemas.openxmlformats.org/drawingml/2006/main">
            <a:off x="619125" y="2009775"/>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AC1CD"/>
                </a:solidFill>
              </a:defRPr>
            </a:defPPr>
            <a:lvl1pPr>
              <a:defRPr sz="1875" b="0">
                <a:solidFill>
                  <a:srgbClr val="AAC1CD"/>
                </a:solidFill>
              </a:defRPr>
            </a:lvl1pPr>
            <a:lvl2pPr>
              <a:defRPr sz="1875" b="0">
                <a:solidFill>
                  <a:srgbClr val="AAC1CD"/>
                </a:solidFill>
              </a:defRPr>
            </a:lvl2pPr>
            <a:lvl3pPr>
              <a:defRPr sz="1875" b="0">
                <a:solidFill>
                  <a:srgbClr val="AAC1CD"/>
                </a:solidFill>
              </a:defRPr>
            </a:lvl3pPr>
            <a:lvl4pPr>
              <a:defRPr sz="1875" b="0">
                <a:solidFill>
                  <a:srgbClr val="AAC1CD"/>
                </a:solidFill>
              </a:defRPr>
            </a:lvl4pPr>
            <a:lvl5pPr>
              <a:defRPr sz="1875" b="0">
                <a:solidFill>
                  <a:srgbClr val="AAC1CD"/>
                </a:solidFill>
              </a:defRPr>
            </a:lvl5pPr>
            <a:lvl6pPr>
              <a:defRPr sz="1875" b="0">
                <a:solidFill>
                  <a:srgbClr val="AAC1CD"/>
                </a:solidFill>
              </a:defRPr>
            </a:lvl6pPr>
            <a:lvl7pPr>
              <a:defRPr sz="1875" b="0">
                <a:solidFill>
                  <a:srgbClr val="AAC1CD"/>
                </a:solidFill>
              </a:defRPr>
            </a:lvl7pPr>
            <a:lvl8pPr>
              <a:defRPr sz="1875" b="0">
                <a:solidFill>
                  <a:srgbClr val="AAC1CD"/>
                </a:solidFill>
              </a:defRPr>
            </a:lvl8pPr>
            <a:lvl9pPr>
              <a:defRPr sz="1875" b="0">
                <a:solidFill>
                  <a:srgbClr val="AAC1CD"/>
                </a:solidFill>
              </a:defRPr>
            </a:lvl9pPr>
          </a:lstStyle>
          <a:p xmlns:a="http://schemas.openxmlformats.org/drawingml/2006/main">
            <a:pPr>
              <a:defRPr sz="1875" b="0">
                <a:solidFill>
                  <a:srgbClr val="AAC1CD"/>
                </a:solidFill>
              </a:defRPr>
            </a:pPr>
            <a:r>
              <a:rPr sz="1875" b="0">
                <a:solidFill>
                  <a:srgbClr val="AAC1CD"/>
                </a:solidFill>
              </a:rPr>
              <a:t>756 prior observations for every date</a:t>
            </a:r>
          </a:p>
          <a:p xmlns:a="http://schemas.openxmlformats.org/drawingml/2006/main">
            <a:pPr>
              <a:defRPr sz="1875" b="0">
                <a:solidFill>
                  <a:srgbClr val="AAC1CD"/>
                </a:solidFill>
              </a:defRPr>
            </a:pPr>
            <a:r>
              <a:rPr sz="1875" b="0">
                <a:solidFill>
                  <a:srgbClr val="AAC1CD"/>
                </a:solidFill>
              </a:rPr>
              <a:t>Legacy Basel traffic lights use exactly 250 days at 99%</a:t>
            </a:r>
          </a:p>
        </p:txBody>
      </p:sp>
      <p:graphicFrame>
        <p:nvGraphicFramePr>
          <p:cNvPr id="4" name="">
            <a:extLst xmlns:a="http://schemas.openxmlformats.org/drawingml/2006/main">
              <a:ext uri="{FF2B5EF4-FFF2-40B4-BE49-F238E27FC236}">
                <a16:creationId xmlns:a16="http://schemas.microsoft.com/office/drawing/2014/main" id="{6EDC1ACD-3DBD-48E9-9DF0-B41C6D009C90}"/>
              </a:ext>
            </a:extLst>
          </p:cNvPr>
          <p:cNvGraphicFramePr/>
          <p:nvPr/>
        </p:nvGraphicFramePr>
        <p:xfrm>
          <a:off xmlns:a="http://schemas.openxmlformats.org/drawingml/2006/main" x="619125" y="3295650"/>
          <a:ext xmlns:a="http://schemas.openxmlformats.org/drawingml/2006/main" cx="10858500" cy="2781300"/>
        </p:xfrm>
        <a:graphic xmlns:a="http://schemas.openxmlformats.org/drawingml/2006/main">
          <a:graphicData uri="http://schemas.openxmlformats.org/drawingml/2006/table">
            <a:tbl>
              <a:tblPr/>
              <a:tblGrid>
                <a:gridCol w="3429000"/>
                <a:gridCol w="1905000"/>
                <a:gridCol w="1714500"/>
                <a:gridCol w="1714500"/>
                <a:gridCol w="2095500"/>
              </a:tblGrid>
              <a:tr h="463550">
                <a:tc>
                  <a:txBody>
                    <a:bodyPr/>
                    <a:lstStyle/>
                    <a:p>
                      <a:r>
                        <a:rPr sz="1425" b="1">
                          <a:solidFill>
                            <a:srgbClr val="E8EFF2"/>
                          </a:solidFill>
                        </a:rPr>
                        <a:t>99% model</a:t>
                      </a:r>
                    </a:p>
                  </a:txBody>
                  <a:tcPr marL="91440" marR="91440" marT="45720" marB="45720">
                    <a:lnL w="9525">
                      <a:solidFill>
                        <a:srgbClr val="34505E"/>
                      </a:solidFill>
                      <a:prstDash val="solid"/>
                    </a:lnL>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Exceptions</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Kupiec p</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CC p</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c>
                  <a:txBody>
                    <a:bodyPr/>
                    <a:lstStyle/>
                    <a:p>
                      <a:r>
                        <a:rPr sz="1425" b="1">
                          <a:solidFill>
                            <a:srgbClr val="E8EFF2"/>
                          </a:solidFill>
                        </a:rPr>
                        <a:t>Last250</a:t>
                      </a:r>
                    </a:p>
                  </a:txBody>
                  <a:tcPr marL="91440" marR="91440" marT="45720" marB="45720">
                    <a:lnR w="9525">
                      <a:solidFill>
                        <a:srgbClr val="34505E"/>
                      </a:solidFill>
                      <a:prstDash val="solid"/>
                    </a:lnR>
                    <a:lnT w="9525">
                      <a:solidFill>
                        <a:srgbClr val="34505E"/>
                      </a:solidFill>
                      <a:prstDash val="solid"/>
                    </a:lnT>
                    <a:lnB w="9525">
                      <a:solidFill>
                        <a:srgbClr val="34505E"/>
                      </a:solidFill>
                      <a:prstDash val="solid"/>
                    </a:lnB>
                    <a:solidFill>
                      <a:srgbClr val="224553"/>
                    </a:solidFill>
                  </a:tcPr>
                </a:tc>
              </a:tr>
              <a:tr h="463550">
                <a:tc>
                  <a:txBody>
                    <a:bodyPr/>
                    <a:lstStyle/>
                    <a:p>
                      <a:r>
                        <a:rPr sz="1425" b="0">
                          <a:solidFill>
                            <a:srgbClr val="E8EFF2"/>
                          </a:solidFill>
                        </a:rPr>
                        <a:t>EVT</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6</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0.234</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0.474</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Green</a:t>
                      </a:r>
                    </a:p>
                  </a:txBody>
                  <a:tcPr marL="91440" marR="91440" marT="45720" marB="45720">
                    <a:lnR w="9525">
                      <a:solidFill>
                        <a:srgbClr val="34505E"/>
                      </a:solidFill>
                      <a:prstDash val="solid"/>
                    </a:lnR>
                    <a:lnB w="9525">
                      <a:solidFill>
                        <a:srgbClr val="34505E"/>
                      </a:solidFill>
                      <a:prstDash val="solid"/>
                    </a:lnB>
                    <a:solidFill>
                      <a:srgbClr val="132633"/>
                    </a:solidFill>
                  </a:tcPr>
                </a:tc>
              </a:tr>
              <a:tr h="463550">
                <a:tc>
                  <a:txBody>
                    <a:bodyPr/>
                    <a:lstStyle/>
                    <a:p>
                      <a:r>
                        <a:rPr sz="1425" b="0">
                          <a:solidFill>
                            <a:srgbClr val="E8EFF2"/>
                          </a:solidFill>
                        </a:rPr>
                        <a:t>Historical</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8</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0.640</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0.837</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Green</a:t>
                      </a:r>
                    </a:p>
                  </a:txBody>
                  <a:tcPr marL="91440" marR="91440" marT="45720" marB="45720">
                    <a:lnR w="9525">
                      <a:solidFill>
                        <a:srgbClr val="34505E"/>
                      </a:solidFill>
                      <a:prstDash val="solid"/>
                    </a:lnR>
                    <a:lnB w="9525">
                      <a:solidFill>
                        <a:srgbClr val="34505E"/>
                      </a:solidFill>
                      <a:prstDash val="solid"/>
                    </a:lnB>
                    <a:solidFill>
                      <a:srgbClr val="0C1822"/>
                    </a:solidFill>
                  </a:tcPr>
                </a:tc>
              </a:tr>
              <a:tr h="463550">
                <a:tc>
                  <a:txBody>
                    <a:bodyPr/>
                    <a:lstStyle/>
                    <a:p>
                      <a:r>
                        <a:rPr sz="1425" b="0">
                          <a:solidFill>
                            <a:srgbClr val="E8EFF2"/>
                          </a:solidFill>
                        </a:rPr>
                        <a:t>Monte Carlo</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13</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0.263</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0.445</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Amber</a:t>
                      </a:r>
                    </a:p>
                  </a:txBody>
                  <a:tcPr marL="91440" marR="91440" marT="45720" marB="45720">
                    <a:lnR w="9525">
                      <a:solidFill>
                        <a:srgbClr val="34505E"/>
                      </a:solidFill>
                      <a:prstDash val="solid"/>
                    </a:lnR>
                    <a:lnB w="9525">
                      <a:solidFill>
                        <a:srgbClr val="34505E"/>
                      </a:solidFill>
                      <a:prstDash val="solid"/>
                    </a:lnB>
                    <a:solidFill>
                      <a:srgbClr val="132633"/>
                    </a:solidFill>
                  </a:tcPr>
                </a:tc>
              </a:tr>
              <a:tr h="463550">
                <a:tc>
                  <a:txBody>
                    <a:bodyPr/>
                    <a:lstStyle/>
                    <a:p>
                      <a:r>
                        <a:rPr sz="1425" b="0">
                          <a:solidFill>
                            <a:srgbClr val="E8EFF2"/>
                          </a:solidFill>
                        </a:rPr>
                        <a:t>Parametric</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9</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0.898</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0.909</a:t>
                      </a:r>
                    </a:p>
                  </a:txBody>
                  <a:tcPr marL="91440" marR="91440" marT="45720" marB="45720">
                    <a:lnR w="9525">
                      <a:solidFill>
                        <a:srgbClr val="34505E"/>
                      </a:solidFill>
                      <a:prstDash val="solid"/>
                    </a:lnR>
                    <a:lnB w="9525">
                      <a:solidFill>
                        <a:srgbClr val="34505E"/>
                      </a:solidFill>
                      <a:prstDash val="solid"/>
                    </a:lnB>
                    <a:solidFill>
                      <a:srgbClr val="0C1822"/>
                    </a:solidFill>
                  </a:tcPr>
                </a:tc>
                <a:tc>
                  <a:txBody>
                    <a:bodyPr/>
                    <a:lstStyle/>
                    <a:p>
                      <a:r>
                        <a:rPr sz="1425" b="0">
                          <a:solidFill>
                            <a:srgbClr val="E8EFF2"/>
                          </a:solidFill>
                        </a:rPr>
                        <a:t>Amber</a:t>
                      </a:r>
                    </a:p>
                  </a:txBody>
                  <a:tcPr marL="91440" marR="91440" marT="45720" marB="45720">
                    <a:lnR w="9525">
                      <a:solidFill>
                        <a:srgbClr val="34505E"/>
                      </a:solidFill>
                      <a:prstDash val="solid"/>
                    </a:lnR>
                    <a:lnB w="9525">
                      <a:solidFill>
                        <a:srgbClr val="34505E"/>
                      </a:solidFill>
                      <a:prstDash val="solid"/>
                    </a:lnB>
                    <a:solidFill>
                      <a:srgbClr val="0C1822"/>
                    </a:solidFill>
                  </a:tcPr>
                </a:tc>
              </a:tr>
              <a:tr h="463550">
                <a:tc>
                  <a:txBody>
                    <a:bodyPr/>
                    <a:lstStyle/>
                    <a:p>
                      <a:r>
                        <a:rPr sz="1425" b="0">
                          <a:solidFill>
                            <a:srgbClr val="E8EFF2"/>
                          </a:solidFill>
                        </a:rPr>
                        <a:t>Volatility state</a:t>
                      </a:r>
                    </a:p>
                  </a:txBody>
                  <a:tcPr marL="91440" marR="91440" marT="45720" marB="45720">
                    <a:lnL w="9525">
                      <a:solidFill>
                        <a:srgbClr val="34505E"/>
                      </a:solidFill>
                      <a:prstDash val="solid"/>
                    </a:lnL>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15</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0.090</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0.016</a:t>
                      </a:r>
                    </a:p>
                  </a:txBody>
                  <a:tcPr marL="91440" marR="91440" marT="45720" marB="45720">
                    <a:lnR w="9525">
                      <a:solidFill>
                        <a:srgbClr val="34505E"/>
                      </a:solidFill>
                      <a:prstDash val="solid"/>
                    </a:lnR>
                    <a:lnB w="9525">
                      <a:solidFill>
                        <a:srgbClr val="34505E"/>
                      </a:solidFill>
                      <a:prstDash val="solid"/>
                    </a:lnB>
                    <a:solidFill>
                      <a:srgbClr val="132633"/>
                    </a:solidFill>
                  </a:tcPr>
                </a:tc>
                <a:tc>
                  <a:txBody>
                    <a:bodyPr/>
                    <a:lstStyle/>
                    <a:p>
                      <a:r>
                        <a:rPr sz="1425" b="0">
                          <a:solidFill>
                            <a:srgbClr val="E8EFF2"/>
                          </a:solidFill>
                        </a:rPr>
                        <a:t>Amber</a:t>
                      </a:r>
                    </a:p>
                  </a:txBody>
                  <a:tcPr marL="91440" marR="91440" marT="45720" marB="45720">
                    <a:lnR w="9525">
                      <a:solidFill>
                        <a:srgbClr val="34505E"/>
                      </a:solidFill>
                      <a:prstDash val="solid"/>
                    </a:lnR>
                    <a:lnB w="9525">
                      <a:solidFill>
                        <a:srgbClr val="34505E"/>
                      </a:solidFill>
                      <a:prstDash val="solid"/>
                    </a:lnB>
                    <a:solidFill>
                      <a:srgbClr val="132633"/>
                    </a:solidFill>
                  </a:tcPr>
                </a:tc>
              </a:tr>
            </a:tbl>
          </a:graphicData>
        </a:graphic>
      </p:graphicFrame>
      <p:sp>
        <p:nvSpPr>
          <p:cNvPr id="5" name="">
            <a:extLst xmlns:a="http://schemas.openxmlformats.org/drawingml/2006/main">
              <a:ext uri="{FF2B5EF4-FFF2-40B4-BE49-F238E27FC236}">
                <a16:creationId xmlns:a16="http://schemas.microsoft.com/office/drawing/2014/main" id="{6BF6A86E-31DA-4FB4-A038-68D11D3EE10F}"/>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09 / 12    ·    DATA THROUGH 30 SEP 2026    ·    PROPOSAL PENDING TEAM REVIEW</a:t>
            </a:r>
          </a:p>
        </p:txBody>
      </p:sp>
    </p:spTree>
    <p:extLst>
      <p:ext uri="{BB962C8B-B14F-4D97-AF65-F5344CB8AC3E}">
        <p14:creationId xmlns:p14="http://schemas.microsoft.com/office/powerpoint/2010/main" val="2108959624"/>
      </p:ext>
    </p:extLst>
  </p:cSld>
</p:sld>
</file>

<file path=ppt/slides/slide10.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878C13-2FDD-4998-8B70-4B28C99A7665}"/>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8E153B05-BBE8-4C55-9095-D09101AB91CB}"/>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Crisis losses challenge the risk budget</a:t>
            </a:r>
          </a:p>
        </p:txBody>
      </p:sp>
      <p:sp>
        <p:nvSpPr>
          <p:cNvPr id="3" name="">
            <a:extLst xmlns:a="http://schemas.openxmlformats.org/drawingml/2006/main">
              <a:ext uri="{FF2B5EF4-FFF2-40B4-BE49-F238E27FC236}">
                <a16:creationId xmlns:a16="http://schemas.microsoft.com/office/drawing/2014/main" id="{286F5DDD-A06E-4BE7-8D68-04E683D45C87}"/>
              </a:ext>
            </a:extLst>
          </p:cNvPr>
          <p:cNvSpPr>
            <a:spLocks xmlns:a="http://schemas.openxmlformats.org/drawingml/2006/main" noGrp="1"/>
          </p:cNvSpPr>
          <p:nvPr/>
        </p:nvSpPr>
        <p:spPr>
          <a:xfrm xmlns:a="http://schemas.openxmlformats.org/drawingml/2006/main">
            <a:off x="619125" y="2009775"/>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AC1CD"/>
                </a:solidFill>
              </a:defRPr>
            </a:defPPr>
            <a:lvl1pPr>
              <a:defRPr sz="1875" b="0">
                <a:solidFill>
                  <a:srgbClr val="AAC1CD"/>
                </a:solidFill>
              </a:defRPr>
            </a:lvl1pPr>
            <a:lvl2pPr>
              <a:defRPr sz="1875" b="0">
                <a:solidFill>
                  <a:srgbClr val="AAC1CD"/>
                </a:solidFill>
              </a:defRPr>
            </a:lvl2pPr>
            <a:lvl3pPr>
              <a:defRPr sz="1875" b="0">
                <a:solidFill>
                  <a:srgbClr val="AAC1CD"/>
                </a:solidFill>
              </a:defRPr>
            </a:lvl3pPr>
            <a:lvl4pPr>
              <a:defRPr sz="1875" b="0">
                <a:solidFill>
                  <a:srgbClr val="AAC1CD"/>
                </a:solidFill>
              </a:defRPr>
            </a:lvl4pPr>
            <a:lvl5pPr>
              <a:defRPr sz="1875" b="0">
                <a:solidFill>
                  <a:srgbClr val="AAC1CD"/>
                </a:solidFill>
              </a:defRPr>
            </a:lvl5pPr>
            <a:lvl6pPr>
              <a:defRPr sz="1875" b="0">
                <a:solidFill>
                  <a:srgbClr val="AAC1CD"/>
                </a:solidFill>
              </a:defRPr>
            </a:lvl6pPr>
            <a:lvl7pPr>
              <a:defRPr sz="1875" b="0">
                <a:solidFill>
                  <a:srgbClr val="AAC1CD"/>
                </a:solidFill>
              </a:defRPr>
            </a:lvl7pPr>
            <a:lvl8pPr>
              <a:defRPr sz="1875" b="0">
                <a:solidFill>
                  <a:srgbClr val="AAC1CD"/>
                </a:solidFill>
              </a:defRPr>
            </a:lvl8pPr>
            <a:lvl9pPr>
              <a:defRPr sz="1875" b="0">
                <a:solidFill>
                  <a:srgbClr val="AAC1CD"/>
                </a:solidFill>
              </a:defRPr>
            </a:lvl9pPr>
          </a:lstStyle>
          <a:p xmlns:a="http://schemas.openxmlformats.org/drawingml/2006/main">
            <a:pPr>
              <a:defRPr sz="1875" b="0">
                <a:solidFill>
                  <a:srgbClr val="AAC1CD"/>
                </a:solidFill>
              </a:defRPr>
            </a:pPr>
            <a:r>
              <a:rPr sz="1875" b="0">
                <a:solidFill>
                  <a:srgbClr val="AAC1CD"/>
                </a:solidFill>
              </a:rPr>
              <a:t>Terminal return can conceal a deeper interim drawdown</a:t>
            </a:r>
          </a:p>
          <a:p xmlns:a="http://schemas.openxmlformats.org/drawingml/2006/main">
            <a:pPr>
              <a:defRPr sz="1875" b="0">
                <a:solidFill>
                  <a:srgbClr val="AAC1CD"/>
                </a:solidFill>
              </a:defRPr>
            </a:pPr>
            <a:r>
              <a:rPr sz="1875" b="0">
                <a:solidFill>
                  <a:srgbClr val="AAC1CD"/>
                </a:solidFill>
              </a:rPr>
              <a:t>Historical replay is hindsight exposure, not a live track record</a:t>
            </a:r>
          </a:p>
        </p:txBody>
      </p:sp>
      <p:graphicFrame>
        <p:nvGraphicFramePr>
          <p:cNvPr id="4" name="Chart">
            <a:extLst xmlns:a="http://schemas.openxmlformats.org/drawingml/2006/main">
              <a:ext uri="{FF2B5EF4-FFF2-40B4-BE49-F238E27FC236}">
                <a16:creationId xmlns:a16="http://schemas.microsoft.com/office/drawing/2014/main" id="{1AA6BCFC-AAD1-4D67-96F1-2834A1F4BA13}"/>
              </a:ext>
            </a:extLst>
          </p:cNvPr>
          <p:cNvGraphicFramePr/>
          <p:nvPr/>
        </p:nvGraphicFramePr>
        <p:xfrm>
          <a:off xmlns:a="http://schemas.openxmlformats.org/drawingml/2006/main" x="619125" y="3314700"/>
          <a:ext xmlns:a="http://schemas.openxmlformats.org/drawingml/2006/main" cx="10858500" cy="2781300"/>
        </p:xfrm>
        <a:graphic xmlns:a="http://schemas.openxmlformats.org/drawingml/2006/main">
          <a:graphicData uri="http://schemas.openxmlformats.org/drawingml/2006/chart">
            <c:chart xmlns:r="http://schemas.openxmlformats.org/officeDocument/2006/relationships" xmlns:c="http://schemas.openxmlformats.org/drawingml/2006/chart" r:id="Ra14205dcc05d4595"/>
          </a:graphicData>
        </a:graphic>
      </p:graphicFrame>
      <p:sp>
        <p:nvSpPr>
          <p:cNvPr id="5" name="">
            <a:extLst xmlns:a="http://schemas.openxmlformats.org/drawingml/2006/main">
              <a:ext uri="{FF2B5EF4-FFF2-40B4-BE49-F238E27FC236}">
                <a16:creationId xmlns:a16="http://schemas.microsoft.com/office/drawing/2014/main" id="{8DF2954F-EB92-4F8D-AC8A-F06B3150C4B2}"/>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10 / 12    ·    DATA THROUGH 30 SEP 2026    ·    PROPOSAL PENDING TEAM REVIEW</a:t>
            </a:r>
          </a:p>
        </p:txBody>
      </p:sp>
    </p:spTree>
    <p:extLst>
      <p:ext uri="{BB962C8B-B14F-4D97-AF65-F5344CB8AC3E}">
        <p14:creationId xmlns:p14="http://schemas.microsoft.com/office/powerpoint/2010/main" val="390456880"/>
      </p:ext>
    </p:extLst>
  </p:cSld>
</p:sld>
</file>

<file path=ppt/slides/slide11.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E0D0E0-F5DC-4CE1-A859-1654ED86D14B}"/>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88421054-A9EA-48C3-A7DE-01077D1801C2}"/>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Useful innovation includes rejection</a:t>
            </a:r>
          </a:p>
        </p:txBody>
      </p:sp>
      <p:sp>
        <p:nvSpPr>
          <p:cNvPr id="3" name="">
            <a:extLst xmlns:a="http://schemas.openxmlformats.org/drawingml/2006/main">
              <a:ext uri="{FF2B5EF4-FFF2-40B4-BE49-F238E27FC236}">
                <a16:creationId xmlns:a16="http://schemas.microsoft.com/office/drawing/2014/main" id="{86049BC8-5A1F-4174-B072-CFAD20E99A6A}"/>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Volatility-state score difference +0.132</a:t>
            </a:r>
          </a:p>
          <a:p xmlns:a="http://schemas.openxmlformats.org/drawingml/2006/main">
            <a:pPr>
              <a:defRPr sz="2625" b="0">
                <a:solidFill>
                  <a:srgbClr val="AAC1CD"/>
                </a:solidFill>
              </a:defRPr>
            </a:pPr>
            <a:r>
              <a:rPr sz="2625" b="0">
                <a:solidFill>
                  <a:srgbClr val="AAC1CD"/>
                </a:solidFill>
              </a:rPr>
              <a:t>95% interval [-0.111, +0.394]</a:t>
            </a:r>
          </a:p>
          <a:p xmlns:a="http://schemas.openxmlformats.org/drawingml/2006/main">
            <a:pPr>
              <a:defRPr sz="2625" b="0">
                <a:solidFill>
                  <a:srgbClr val="AAC1CD"/>
                </a:solidFill>
              </a:defRPr>
            </a:pPr>
            <a:r>
              <a:rPr sz="2625" b="0">
                <a:solidFill>
                  <a:srgbClr val="AAC1CD"/>
                </a:solidFill>
              </a:rPr>
              <a:t>No reliable improvement; retain historical baseline</a:t>
            </a:r>
          </a:p>
        </p:txBody>
      </p:sp>
      <p:sp>
        <p:nvSpPr>
          <p:cNvPr id="4" name="">
            <a:extLst xmlns:a="http://schemas.openxmlformats.org/drawingml/2006/main">
              <a:ext uri="{FF2B5EF4-FFF2-40B4-BE49-F238E27FC236}">
                <a16:creationId xmlns:a16="http://schemas.microsoft.com/office/drawing/2014/main" id="{636FADDE-A3B7-43C9-8EA3-0D4CAAF27DD4}"/>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11 / 12    ·    DATA THROUGH 30 SEP 2026    ·    PROPOSAL PENDING TEAM REVIEW</a:t>
            </a:r>
          </a:p>
        </p:txBody>
      </p:sp>
    </p:spTree>
    <p:extLst>
      <p:ext uri="{BB962C8B-B14F-4D97-AF65-F5344CB8AC3E}">
        <p14:creationId xmlns:p14="http://schemas.microsoft.com/office/powerpoint/2010/main" val="1062902186"/>
      </p:ext>
    </p:extLst>
  </p:cSld>
</p:sld>
</file>

<file path=ppt/slides/slide12.xml><?xml version="1.0" encoding="utf-8"?>
<p:sld xmlns:p="http://schemas.openxmlformats.org/presentationml/2006/main">
  <p:cSld>
    <p:bg>
      <p:bgPr>
        <a:solidFill xmlns:a="http://schemas.openxmlformats.org/drawingml/2006/main">
          <a:srgbClr val="0C18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83B121-C6B4-42EA-9524-7F8FAB08BE10}"/>
              </a:ext>
            </a:extLst>
          </p:cNvPr>
          <p:cNvSpPr>
            <a:spLocks xmlns:a="http://schemas.openxmlformats.org/drawingml/2006/main" noGrp="1"/>
          </p:cNvSpPr>
          <p:nvPr/>
        </p:nvSpPr>
        <p:spPr>
          <a:xfrm xmlns:a="http://schemas.openxmlformats.org/drawingml/2006/main">
            <a:off x="619125" y="3619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5CCB0"/>
                </a:solidFill>
              </a:defRPr>
            </a:defPPr>
            <a:lvl1pPr>
              <a:defRPr sz="1200" b="1">
                <a:solidFill>
                  <a:srgbClr val="55CCB0"/>
                </a:solidFill>
              </a:defRPr>
            </a:lvl1pPr>
            <a:lvl2pPr>
              <a:defRPr sz="1200" b="1">
                <a:solidFill>
                  <a:srgbClr val="55CCB0"/>
                </a:solidFill>
              </a:defRPr>
            </a:lvl2pPr>
            <a:lvl3pPr>
              <a:defRPr sz="1200" b="1">
                <a:solidFill>
                  <a:srgbClr val="55CCB0"/>
                </a:solidFill>
              </a:defRPr>
            </a:lvl3pPr>
            <a:lvl4pPr>
              <a:defRPr sz="1200" b="1">
                <a:solidFill>
                  <a:srgbClr val="55CCB0"/>
                </a:solidFill>
              </a:defRPr>
            </a:lvl4pPr>
            <a:lvl5pPr>
              <a:defRPr sz="1200" b="1">
                <a:solidFill>
                  <a:srgbClr val="55CCB0"/>
                </a:solidFill>
              </a:defRPr>
            </a:lvl5pPr>
            <a:lvl6pPr>
              <a:defRPr sz="1200" b="1">
                <a:solidFill>
                  <a:srgbClr val="55CCB0"/>
                </a:solidFill>
              </a:defRPr>
            </a:lvl6pPr>
            <a:lvl7pPr>
              <a:defRPr sz="1200" b="1">
                <a:solidFill>
                  <a:srgbClr val="55CCB0"/>
                </a:solidFill>
              </a:defRPr>
            </a:lvl7pPr>
            <a:lvl8pPr>
              <a:defRPr sz="1200" b="1">
                <a:solidFill>
                  <a:srgbClr val="55CCB0"/>
                </a:solidFill>
              </a:defRPr>
            </a:lvl8pPr>
            <a:lvl9pPr>
              <a:defRPr sz="1200" b="1">
                <a:solidFill>
                  <a:srgbClr val="55CCB0"/>
                </a:solidFill>
              </a:defRPr>
            </a:lvl9pPr>
          </a:lstStyle>
          <a:p xmlns:a="http://schemas.openxmlformats.org/drawingml/2006/main">
            <a:pPr>
              <a:defRPr sz="1200" b="1">
                <a:solidFill>
                  <a:srgbClr val="55CCB0"/>
                </a:solidFill>
              </a:defRPr>
            </a:pPr>
            <a:r>
              <a:rPr sz="1200" b="1">
                <a:solidFill>
                  <a:srgbClr val="55CCB0"/>
                </a:solidFill>
              </a:rPr>
              <a:t>QUANTUM-X / SERENDIB UNIVERSITY ENDOWMENT</a:t>
            </a:r>
          </a:p>
        </p:txBody>
      </p:sp>
      <p:sp>
        <p:nvSpPr>
          <p:cNvPr id="2" name="">
            <a:extLst xmlns:a="http://schemas.openxmlformats.org/drawingml/2006/main">
              <a:ext uri="{FF2B5EF4-FFF2-40B4-BE49-F238E27FC236}">
                <a16:creationId xmlns:a16="http://schemas.microsoft.com/office/drawing/2014/main" id="{C768A926-8C37-46E4-8DC3-650CE59D83EA}"/>
              </a:ext>
            </a:extLst>
          </p:cNvPr>
          <p:cNvSpPr>
            <a:spLocks xmlns:a="http://schemas.openxmlformats.org/drawingml/2006/main" noGrp="1"/>
          </p:cNvSpPr>
          <p:nvPr/>
        </p:nvSpPr>
        <p:spPr>
          <a:xfrm xmlns:a="http://schemas.openxmlformats.org/drawingml/2006/main">
            <a:off x="619125" y="9429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E8EFF2"/>
                </a:solidFill>
              </a:defRPr>
            </a:defPPr>
            <a:lvl1pPr>
              <a:defRPr sz="3225" b="0">
                <a:solidFill>
                  <a:srgbClr val="E8EFF2"/>
                </a:solidFill>
              </a:defRPr>
            </a:lvl1pPr>
            <a:lvl2pPr>
              <a:defRPr sz="3225" b="0">
                <a:solidFill>
                  <a:srgbClr val="E8EFF2"/>
                </a:solidFill>
              </a:defRPr>
            </a:lvl2pPr>
            <a:lvl3pPr>
              <a:defRPr sz="3225" b="0">
                <a:solidFill>
                  <a:srgbClr val="E8EFF2"/>
                </a:solidFill>
              </a:defRPr>
            </a:lvl3pPr>
            <a:lvl4pPr>
              <a:defRPr sz="3225" b="0">
                <a:solidFill>
                  <a:srgbClr val="E8EFF2"/>
                </a:solidFill>
              </a:defRPr>
            </a:lvl4pPr>
            <a:lvl5pPr>
              <a:defRPr sz="3225" b="0">
                <a:solidFill>
                  <a:srgbClr val="E8EFF2"/>
                </a:solidFill>
              </a:defRPr>
            </a:lvl5pPr>
            <a:lvl6pPr>
              <a:defRPr sz="3225" b="0">
                <a:solidFill>
                  <a:srgbClr val="E8EFF2"/>
                </a:solidFill>
              </a:defRPr>
            </a:lvl6pPr>
            <a:lvl7pPr>
              <a:defRPr sz="3225" b="0">
                <a:solidFill>
                  <a:srgbClr val="E8EFF2"/>
                </a:solidFill>
              </a:defRPr>
            </a:lvl7pPr>
            <a:lvl8pPr>
              <a:defRPr sz="3225" b="0">
                <a:solidFill>
                  <a:srgbClr val="E8EFF2"/>
                </a:solidFill>
              </a:defRPr>
            </a:lvl8pPr>
            <a:lvl9pPr>
              <a:defRPr sz="3225" b="0">
                <a:solidFill>
                  <a:srgbClr val="E8EFF2"/>
                </a:solidFill>
              </a:defRPr>
            </a:lvl9pPr>
          </a:lstStyle>
          <a:p xmlns:a="http://schemas.openxmlformats.org/drawingml/2006/main">
            <a:pPr>
              <a:defRPr sz="3225" b="0">
                <a:solidFill>
                  <a:srgbClr val="E8EFF2"/>
                </a:solidFill>
              </a:defRPr>
            </a:pPr>
            <a:r>
              <a:rPr sz="3225" b="0">
                <a:solidFill>
                  <a:srgbClr val="E8EFF2"/>
                </a:solidFill>
              </a:rPr>
              <a:t>Conditions for a fundable mandate</a:t>
            </a:r>
          </a:p>
        </p:txBody>
      </p:sp>
      <p:sp>
        <p:nvSpPr>
          <p:cNvPr id="3" name="">
            <a:extLst xmlns:a="http://schemas.openxmlformats.org/drawingml/2006/main">
              <a:ext uri="{FF2B5EF4-FFF2-40B4-BE49-F238E27FC236}">
                <a16:creationId xmlns:a16="http://schemas.microsoft.com/office/drawing/2014/main" id="{3732A89D-AEBB-4469-ACDC-E8A381983F9F}"/>
              </a:ext>
            </a:extLst>
          </p:cNvPr>
          <p:cNvSpPr>
            <a:spLocks xmlns:a="http://schemas.openxmlformats.org/drawingml/2006/main" noGrp="1"/>
          </p:cNvSpPr>
          <p:nvPr/>
        </p:nvSpPr>
        <p:spPr>
          <a:xfrm xmlns:a="http://schemas.openxmlformats.org/drawingml/2006/main">
            <a:off x="619125" y="200977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AC1CD"/>
                </a:solidFill>
              </a:defRPr>
            </a:defPPr>
            <a:lvl1pPr>
              <a:defRPr sz="2625" b="0">
                <a:solidFill>
                  <a:srgbClr val="AAC1CD"/>
                </a:solidFill>
              </a:defRPr>
            </a:lvl1pPr>
            <a:lvl2pPr>
              <a:defRPr sz="2625" b="0">
                <a:solidFill>
                  <a:srgbClr val="AAC1CD"/>
                </a:solidFill>
              </a:defRPr>
            </a:lvl2pPr>
            <a:lvl3pPr>
              <a:defRPr sz="2625" b="0">
                <a:solidFill>
                  <a:srgbClr val="AAC1CD"/>
                </a:solidFill>
              </a:defRPr>
            </a:lvl3pPr>
            <a:lvl4pPr>
              <a:defRPr sz="2625" b="0">
                <a:solidFill>
                  <a:srgbClr val="AAC1CD"/>
                </a:solidFill>
              </a:defRPr>
            </a:lvl4pPr>
            <a:lvl5pPr>
              <a:defRPr sz="2625" b="0">
                <a:solidFill>
                  <a:srgbClr val="AAC1CD"/>
                </a:solidFill>
              </a:defRPr>
            </a:lvl5pPr>
            <a:lvl6pPr>
              <a:defRPr sz="2625" b="0">
                <a:solidFill>
                  <a:srgbClr val="AAC1CD"/>
                </a:solidFill>
              </a:defRPr>
            </a:lvl6pPr>
            <a:lvl7pPr>
              <a:defRPr sz="2625" b="0">
                <a:solidFill>
                  <a:srgbClr val="AAC1CD"/>
                </a:solidFill>
              </a:defRPr>
            </a:lvl7pPr>
            <a:lvl8pPr>
              <a:defRPr sz="2625" b="0">
                <a:solidFill>
                  <a:srgbClr val="AAC1CD"/>
                </a:solidFill>
              </a:defRPr>
            </a:lvl8pPr>
            <a:lvl9pPr>
              <a:defRPr sz="2625" b="0">
                <a:solidFill>
                  <a:srgbClr val="AAC1CD"/>
                </a:solidFill>
              </a:defRPr>
            </a:lvl9pPr>
          </a:lstStyle>
          <a:p xmlns:a="http://schemas.openxmlformats.org/drawingml/2006/main">
            <a:pPr>
              <a:defRPr sz="2625" b="0">
                <a:solidFill>
                  <a:srgbClr val="AAC1CD"/>
                </a:solidFill>
              </a:defRPr>
            </a:pPr>
            <a:r>
              <a:rPr sz="2625" b="0">
                <a:solidFill>
                  <a:srgbClr val="AAC1CD"/>
                </a:solidFill>
              </a:rPr>
              <a:t>Agree crisis tolerance and payout requirement</a:t>
            </a:r>
          </a:p>
          <a:p xmlns:a="http://schemas.openxmlformats.org/drawingml/2006/main">
            <a:pPr>
              <a:defRPr sz="2625" b="0">
                <a:solidFill>
                  <a:srgbClr val="AAC1CD"/>
                </a:solidFill>
              </a:defRPr>
            </a:pPr>
            <a:r>
              <a:rPr sz="2625" b="0">
                <a:solidFill>
                  <a:srgbClr val="AAC1CD"/>
                </a:solidFill>
              </a:rPr>
              <a:t>Validate an eligible allocation and feasible rebalancing</a:t>
            </a:r>
          </a:p>
          <a:p xmlns:a="http://schemas.openxmlformats.org/drawingml/2006/main">
            <a:pPr>
              <a:defRPr sz="2625" b="0">
                <a:solidFill>
                  <a:srgbClr val="AAC1CD"/>
                </a:solidFill>
              </a:defRPr>
            </a:pPr>
            <a:r>
              <a:rPr sz="2625" b="0">
                <a:solidFill>
                  <a:srgbClr val="AAC1CD"/>
                </a:solidFill>
              </a:rPr>
              <a:t>Human team reviews, revises and signs the decision</a:t>
            </a:r>
          </a:p>
        </p:txBody>
      </p:sp>
      <p:sp>
        <p:nvSpPr>
          <p:cNvPr id="4" name="">
            <a:extLst xmlns:a="http://schemas.openxmlformats.org/drawingml/2006/main">
              <a:ext uri="{FF2B5EF4-FFF2-40B4-BE49-F238E27FC236}">
                <a16:creationId xmlns:a16="http://schemas.microsoft.com/office/drawing/2014/main" id="{C1BF1727-2C6A-4CE7-98D8-8DEBF696D190}"/>
              </a:ext>
            </a:extLst>
          </p:cNvPr>
          <p:cNvSpPr>
            <a:spLocks xmlns:a="http://schemas.openxmlformats.org/drawingml/2006/main" noGrp="1"/>
          </p:cNvSpPr>
          <p:nvPr/>
        </p:nvSpPr>
        <p:spPr>
          <a:xfrm xmlns:a="http://schemas.openxmlformats.org/drawingml/2006/main">
            <a:off x="619125" y="64293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5CCB0"/>
                </a:solidFill>
              </a:defRPr>
            </a:defPPr>
            <a:lvl1pPr>
              <a:defRPr sz="1050" b="0">
                <a:solidFill>
                  <a:srgbClr val="55CCB0"/>
                </a:solidFill>
              </a:defRPr>
            </a:lvl1pPr>
            <a:lvl2pPr>
              <a:defRPr sz="1050" b="0">
                <a:solidFill>
                  <a:srgbClr val="55CCB0"/>
                </a:solidFill>
              </a:defRPr>
            </a:lvl2pPr>
            <a:lvl3pPr>
              <a:defRPr sz="1050" b="0">
                <a:solidFill>
                  <a:srgbClr val="55CCB0"/>
                </a:solidFill>
              </a:defRPr>
            </a:lvl3pPr>
            <a:lvl4pPr>
              <a:defRPr sz="1050" b="0">
                <a:solidFill>
                  <a:srgbClr val="55CCB0"/>
                </a:solidFill>
              </a:defRPr>
            </a:lvl4pPr>
            <a:lvl5pPr>
              <a:defRPr sz="1050" b="0">
                <a:solidFill>
                  <a:srgbClr val="55CCB0"/>
                </a:solidFill>
              </a:defRPr>
            </a:lvl5pPr>
            <a:lvl6pPr>
              <a:defRPr sz="1050" b="0">
                <a:solidFill>
                  <a:srgbClr val="55CCB0"/>
                </a:solidFill>
              </a:defRPr>
            </a:lvl6pPr>
            <a:lvl7pPr>
              <a:defRPr sz="1050" b="0">
                <a:solidFill>
                  <a:srgbClr val="55CCB0"/>
                </a:solidFill>
              </a:defRPr>
            </a:lvl7pPr>
            <a:lvl8pPr>
              <a:defRPr sz="1050" b="0">
                <a:solidFill>
                  <a:srgbClr val="55CCB0"/>
                </a:solidFill>
              </a:defRPr>
            </a:lvl8pPr>
            <a:lvl9pPr>
              <a:defRPr sz="1050" b="0">
                <a:solidFill>
                  <a:srgbClr val="55CCB0"/>
                </a:solidFill>
              </a:defRPr>
            </a:lvl9pPr>
          </a:lstStyle>
          <a:p xmlns:a="http://schemas.openxmlformats.org/drawingml/2006/main">
            <a:pPr>
              <a:defRPr sz="1050" b="0">
                <a:solidFill>
                  <a:srgbClr val="55CCB0"/>
                </a:solidFill>
              </a:defRPr>
            </a:pPr>
            <a:r>
              <a:rPr sz="1050" b="0">
                <a:solidFill>
                  <a:srgbClr val="55CCB0"/>
                </a:solidFill>
              </a:rPr>
              <a:t>12 / 12    ·    DATA THROUGH 30 SEP 2026    ·    PROPOSAL PENDING TEAM REVIEW</a:t>
            </a:r>
          </a:p>
        </p:txBody>
      </p:sp>
    </p:spTree>
    <p:extLst>
      <p:ext uri="{BB962C8B-B14F-4D97-AF65-F5344CB8AC3E}">
        <p14:creationId xmlns:p14="http://schemas.microsoft.com/office/powerpoint/2010/main" val="731180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2026-10-24T13:10:58.8000000Z</dcterms:created>
  <dcterms:modified xsi:type="dcterms:W3CDTF">2026-10-24T13:10:58.8000000Z</dcterms:modified>
</coreProperties>
</file>